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80" r:id="rId4"/>
    <p:sldId id="258" r:id="rId5"/>
    <p:sldId id="259" r:id="rId6"/>
    <p:sldId id="260" r:id="rId7"/>
    <p:sldId id="281" r:id="rId8"/>
    <p:sldId id="287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82" r:id="rId34"/>
    <p:sldId id="283" r:id="rId35"/>
    <p:sldId id="277" r:id="rId36"/>
    <p:sldId id="284" r:id="rId37"/>
    <p:sldId id="278" r:id="rId38"/>
    <p:sldId id="285" r:id="rId39"/>
    <p:sldId id="286" r:id="rId40"/>
    <p:sldId id="279" r:id="rId4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795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3164D-A1A1-CA76-5CDB-51E773B9E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4673E0-47A7-2551-1F28-50E918DB78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D5B831-03A0-BA36-DFA8-185A09F5C4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C93BE-32BB-194D-362A-4F471A0C3F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48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E3CC3-E644-2E13-9684-56AF349FC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B37FA1-ED5C-8FDA-E8E0-9BE2E7CC5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9FFA9-A451-37BF-7278-D795C15A2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F2AB6-33B2-60DC-5E37-57AF59DC25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203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1EDF2-B29F-4AD9-FEF6-9EEA9BB94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A3D44F-8BAB-6FCD-F0CE-3EBA882171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80FBA1-E3EB-B3A3-6882-50158BFF45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007DC-9DD0-CC80-D590-36D8CDB9EC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0080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4D486-D5DD-1D56-CCF9-A1C7BC205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BE7141-09CE-F627-E303-2E79D4A50E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26660B-D064-2F64-10F9-1B45A8A012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CE635B-227A-3872-89C6-78828E7EE3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6217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95E10-8E0D-1C8B-A57C-46068D771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F0FC19-EC0B-C2EE-9E0C-13A6C69890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ACBAA5-9086-CEF7-3B0F-49E8E2D3D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51F15-3C66-0A21-D97E-8BC0491C9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7530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D188E-DB67-23C0-16F1-624E63744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AA158C-184C-004C-1C6C-52470451CB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92D411-B975-918B-5E23-437007B5F9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24C5A-EEC6-38D0-34FF-0A5B95A178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1112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D43F2-0F84-938D-2BFF-5FAE61C49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A0A6E1-7987-937D-4066-0B088353EB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5611EC-9B56-FB3C-B288-54BC27DE8E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2BC94-34F8-FBEF-5025-F60C9BA12A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2382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4031B-26A6-C23F-76C7-491CB0834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B80ABA-8A38-470D-8ED4-4A09D3DC0F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49581E-1E87-EDDE-C2FD-C91BAD2BF0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04703-7F27-536E-4BC7-D2D18EF3BE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8703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3B9D6-ACE5-149F-C8EF-A67071611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1F6FA5-919B-4166-EEAB-E85E404FD0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D4F126-ECD8-638E-9C5E-9A985BD690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053E7-E892-3280-A713-7A62E481E3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2138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81F40-7AED-AECC-6EE5-A76EEC96E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9A033D-C55A-5CD9-03B8-2B45BF1264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743CF7-8AFF-98A5-D3F3-10F72ACFD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CA4C96-AA0D-EC52-077E-EFBB70CB93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25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EA60B-FFDA-9339-206A-FE8EC6638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E82E94-3E2F-EEA6-B6D7-5ED793999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26E30E-976A-10EB-B47F-6C13E2E56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539DC-0309-ACFA-55B9-450EB4D5E0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3624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881C9-324E-449D-0FE1-A815CE1C0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75CE7A-DBFC-72A1-7F69-39E899A78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9D1172-D18D-E86E-5C03-F2A185181E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F7DB3-8D91-9742-41F2-92FABE7916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731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93B41-1EEA-F955-7CAB-E2E980B6E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E9A76E-1D09-5D26-A8C3-19B43E1CF4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06039B-2AD9-8DC1-6F7B-05CD35402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A6E5F-0C40-23CB-90B1-49832E448A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7632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B1E85-0F7F-7756-7397-F46419C74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93DE9E-0D78-239D-8F27-2088AAF1DF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6A7F41-FE2E-63E9-A958-7236C48BE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19C30-8715-3414-A8D0-460D2376AC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83533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B60A6-8487-4FDE-E12A-EAC7F14B4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DE1C23-2785-EF16-4BFC-28763BCCE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3BB995-1640-8842-5D12-E8B8BA63A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23A77-1D06-0A71-316F-FB3782A01E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2097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4330F-96FB-2927-780F-1FF83EA48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220CE9-9CFC-0BC4-06A4-79B1641EF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B31796-4113-C96B-E3AA-EDCE48A6E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17486B-0B74-F03E-8286-54410C1A3F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69051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EE947-F0C0-6DB2-2A93-89B94651F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BC4828-DCF6-29ED-760A-961DE1B8AB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0C1872-F0C0-AC9B-7A78-255183A515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E9AA6-6057-298F-70AB-D3F2CFF561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01554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200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2972" y="142095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Defence and Surveillance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2017841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1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System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743200" y="33635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IN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– Jainil Gupta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IN" sz="2000" b="1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Enrollment</a:t>
            </a:r>
            <a:r>
              <a:rPr lang="en-IN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- 220670132018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IN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 – Chintan Rana</a:t>
            </a:r>
          </a:p>
          <a:p>
            <a:pPr marL="0" indent="0" algn="ctr">
              <a:buNone/>
            </a:pP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1828800" y="44805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</a:rPr>
              <a:t>Information &amp; Communication Technology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47091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</a:rPr>
              <a:t>SAL Institute of Technology and Engineering Research</a:t>
            </a:r>
            <a:endParaRPr lang="en-US" sz="13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A20C42-4CE3-9A3D-15D8-22D5427C60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059" y="194422"/>
            <a:ext cx="1610360" cy="12056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FCF9136-C33B-113A-7354-B7F5610D68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1124" y="-125730"/>
            <a:ext cx="1714500" cy="1714500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397739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4" name="Text 2"/>
          <p:cNvSpPr/>
          <p:nvPr/>
        </p:nvSpPr>
        <p:spPr>
          <a:xfrm>
            <a:off x="543478" y="3977394"/>
            <a:ext cx="4218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393167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Timeline of Project [12 Weekly Plan]</a:t>
            </a:r>
          </a:p>
        </p:txBody>
      </p:sp>
      <p:sp>
        <p:nvSpPr>
          <p:cNvPr id="6" name="Shape 4"/>
          <p:cNvSpPr/>
          <p:nvPr/>
        </p:nvSpPr>
        <p:spPr>
          <a:xfrm>
            <a:off x="640080" y="1336941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36941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291221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Project Overview &amp; Objectives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664601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64601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618881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Software Requirements Specification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011680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0116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1965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Company Profile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234671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34671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30099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Tools &amp; Technologies Used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268199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68199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263627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Key Functionalities/Features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301727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01727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297155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Progress Overview (Current Status, Completed Phases, Ongoing Tasks)</a:t>
            </a:r>
          </a:p>
        </p:txBody>
      </p:sp>
      <p:sp>
        <p:nvSpPr>
          <p:cNvPr id="24" name="Shape 22"/>
          <p:cNvSpPr/>
          <p:nvPr/>
        </p:nvSpPr>
        <p:spPr>
          <a:xfrm>
            <a:off x="640080" y="333731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33731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329159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Implementation Screenshots (Code Blocks)</a:t>
            </a:r>
          </a:p>
        </p:txBody>
      </p:sp>
      <p:sp>
        <p:nvSpPr>
          <p:cNvPr id="27" name="Shape 25"/>
          <p:cNvSpPr/>
          <p:nvPr/>
        </p:nvSpPr>
        <p:spPr>
          <a:xfrm>
            <a:off x="640080" y="365735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65735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361163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Results &amp; Outcomes</a:t>
            </a:r>
            <a:endParaRPr lang="en-US" sz="1400" dirty="0"/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A96C8346-F8CD-98B2-7246-030FAB64786F}"/>
              </a:ext>
            </a:extLst>
          </p:cNvPr>
          <p:cNvSpPr/>
          <p:nvPr/>
        </p:nvSpPr>
        <p:spPr>
          <a:xfrm>
            <a:off x="640080" y="1006086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1DEF7205-B809-AA20-FCBE-B46DFB8FBAC1}"/>
              </a:ext>
            </a:extLst>
          </p:cNvPr>
          <p:cNvSpPr/>
          <p:nvPr/>
        </p:nvSpPr>
        <p:spPr>
          <a:xfrm>
            <a:off x="640080" y="10058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1</a:t>
            </a:r>
            <a:endParaRPr lang="en-US" sz="1100" dirty="0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E4B5F3B3-95E1-7797-BDF9-9CA0EF6D3346}"/>
              </a:ext>
            </a:extLst>
          </p:cNvPr>
          <p:cNvSpPr/>
          <p:nvPr/>
        </p:nvSpPr>
        <p:spPr>
          <a:xfrm>
            <a:off x="1005840" y="9601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Abstract</a:t>
            </a:r>
            <a:endParaRPr lang="en-US" sz="1400" dirty="0"/>
          </a:p>
        </p:txBody>
      </p:sp>
      <p:sp>
        <p:nvSpPr>
          <p:cNvPr id="35" name="Shape 1">
            <a:extLst>
              <a:ext uri="{FF2B5EF4-FFF2-40B4-BE49-F238E27FC236}">
                <a16:creationId xmlns:a16="http://schemas.microsoft.com/office/drawing/2014/main" id="{D4913007-0283-EBF2-2B7A-C1D8409141B0}"/>
              </a:ext>
            </a:extLst>
          </p:cNvPr>
          <p:cNvSpPr/>
          <p:nvPr/>
        </p:nvSpPr>
        <p:spPr>
          <a:xfrm>
            <a:off x="640080" y="429743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36" name="Text 2">
            <a:extLst>
              <a:ext uri="{FF2B5EF4-FFF2-40B4-BE49-F238E27FC236}">
                <a16:creationId xmlns:a16="http://schemas.microsoft.com/office/drawing/2014/main" id="{F5EA1432-364C-B599-174F-76ACD0666AA7}"/>
              </a:ext>
            </a:extLst>
          </p:cNvPr>
          <p:cNvSpPr/>
          <p:nvPr/>
        </p:nvSpPr>
        <p:spPr>
          <a:xfrm>
            <a:off x="571500" y="429743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11</a:t>
            </a:r>
            <a:endParaRPr lang="en-US" sz="1100" dirty="0"/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4FADBD8A-5A23-9187-0264-38825FF08ADF}"/>
              </a:ext>
            </a:extLst>
          </p:cNvPr>
          <p:cNvSpPr/>
          <p:nvPr/>
        </p:nvSpPr>
        <p:spPr>
          <a:xfrm>
            <a:off x="1005840" y="425171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Conclusion &amp; Future Scope</a:t>
            </a:r>
            <a:endParaRPr lang="en-US" sz="1400" dirty="0"/>
          </a:p>
        </p:txBody>
      </p:sp>
      <p:sp>
        <p:nvSpPr>
          <p:cNvPr id="38" name="Shape 1">
            <a:extLst>
              <a:ext uri="{FF2B5EF4-FFF2-40B4-BE49-F238E27FC236}">
                <a16:creationId xmlns:a16="http://schemas.microsoft.com/office/drawing/2014/main" id="{271D138E-D6FE-668F-8DAA-06D8272E46D3}"/>
              </a:ext>
            </a:extLst>
          </p:cNvPr>
          <p:cNvSpPr/>
          <p:nvPr/>
        </p:nvSpPr>
        <p:spPr>
          <a:xfrm>
            <a:off x="640080" y="461747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39" name="Text 2">
            <a:extLst>
              <a:ext uri="{FF2B5EF4-FFF2-40B4-BE49-F238E27FC236}">
                <a16:creationId xmlns:a16="http://schemas.microsoft.com/office/drawing/2014/main" id="{1BD2541B-22C4-3F93-B2E7-F2CC53084371}"/>
              </a:ext>
            </a:extLst>
          </p:cNvPr>
          <p:cNvSpPr/>
          <p:nvPr/>
        </p:nvSpPr>
        <p:spPr>
          <a:xfrm>
            <a:off x="571500" y="461747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12</a:t>
            </a:r>
            <a:endParaRPr lang="en-US" sz="1100" dirty="0"/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CF0D71A6-F75E-BAE8-8DC2-91D94FDA9EA9}"/>
              </a:ext>
            </a:extLst>
          </p:cNvPr>
          <p:cNvSpPr/>
          <p:nvPr/>
        </p:nvSpPr>
        <p:spPr>
          <a:xfrm>
            <a:off x="1005840" y="457175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References</a:t>
            </a:r>
            <a:endParaRPr lang="en-US" sz="140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CFD85F-55C1-71D1-64FE-03CAF9544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>
            <a:extLst>
              <a:ext uri="{FF2B5EF4-FFF2-40B4-BE49-F238E27FC236}">
                <a16:creationId xmlns:a16="http://schemas.microsoft.com/office/drawing/2014/main" id="{8CAB39E0-BC54-6C2D-0C97-1C224D59BC6B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</a:p>
        </p:txBody>
      </p:sp>
      <p:sp>
        <p:nvSpPr>
          <p:cNvPr id="44" name="Text 3">
            <a:extLst>
              <a:ext uri="{FF2B5EF4-FFF2-40B4-BE49-F238E27FC236}">
                <a16:creationId xmlns:a16="http://schemas.microsoft.com/office/drawing/2014/main" id="{FB2C8416-A385-1B94-784D-752D02E5050C}"/>
              </a:ext>
            </a:extLst>
          </p:cNvPr>
          <p:cNvSpPr/>
          <p:nvPr/>
        </p:nvSpPr>
        <p:spPr>
          <a:xfrm>
            <a:off x="457200" y="2727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CADCFC"/>
                </a:solidFill>
              </a:rPr>
              <a:t>This project develops an AI-powered border surveillance system using deep learning for real-time threat detection. The system employs YOLOv8 for object detection to identify persons, vehicles, and suspicious activities in surveillance footage at 30+ FPS.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>
              <a:solidFill>
                <a:srgbClr val="CADCF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CADCFC"/>
                </a:solidFill>
              </a:rPr>
              <a:t>An ensemble machine learning approach combining Isolation Forest and Random Forest algorithms performs anomaly detection to identify unusual patterns and behaviors.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>
              <a:solidFill>
                <a:srgbClr val="CADCF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CADCFC"/>
                </a:solidFill>
              </a:rPr>
              <a:t>The system processes surveillance video feeds, extracting frames and analyzing them through a detection pipeline. Detected threats are prioritized based on confidence scores and trigger real-time alerts via email and SMS.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>
              <a:solidFill>
                <a:srgbClr val="CADCF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CADCFC"/>
                </a:solidFill>
              </a:rPr>
              <a:t>The entire infrastructure is deployed on Microsoft Azure cloud platform, utilizing Azure Functions for serverless processing, Azure Blob Storage for video/frame storage, and Azure Cosmos DB for alert logging. A Power BI dashboard provides real-time visualization of detection metrics, anomaly heatmaps, and system performance.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>
              <a:solidFill>
                <a:srgbClr val="CADCF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CADCFC"/>
                </a:solidFill>
              </a:rPr>
              <a:t>Training utilizes UCF-Crime dataset (1,900 videos, 13 anomaly types) and </a:t>
            </a:r>
            <a:r>
              <a:rPr lang="en-US" sz="1400" dirty="0" err="1">
                <a:solidFill>
                  <a:srgbClr val="CADCFC"/>
                </a:solidFill>
              </a:rPr>
              <a:t>xView</a:t>
            </a:r>
            <a:r>
              <a:rPr lang="en-US" sz="1400" dirty="0">
                <a:solidFill>
                  <a:srgbClr val="CADCFC"/>
                </a:solidFill>
              </a:rPr>
              <a:t> satellite dataset (1M+ objects). Target metrics include &gt;90% detection accuracy and &lt;20% false positive rate.</a:t>
            </a:r>
          </a:p>
        </p:txBody>
      </p:sp>
    </p:spTree>
    <p:extLst>
      <p:ext uri="{BB962C8B-B14F-4D97-AF65-F5344CB8AC3E}">
        <p14:creationId xmlns:p14="http://schemas.microsoft.com/office/powerpoint/2010/main" val="293713816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Microsoft Elevate Program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23444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123444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12-week intensive virtual internship program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4663440" y="109728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234440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12080" y="123444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Powered by Edunet Foundation &amp; FICE Education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457200" y="228600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423160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242316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Partnership with GTU for 8th Semester Internship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4663440" y="228600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423160"/>
            <a:ext cx="320040" cy="3200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212080" y="242316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Focus: Data Analytics, ML, DL, Power BI, Azure Cloud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457200" y="347472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611880"/>
            <a:ext cx="320040" cy="32004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05840" y="361188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Industry mentorship from Microsoft-certified trainers</a:t>
            </a:r>
            <a:endParaRPr lang="en-US" sz="1300" dirty="0"/>
          </a:p>
        </p:txBody>
      </p:sp>
      <p:sp>
        <p:nvSpPr>
          <p:cNvPr id="19" name="Shape 11"/>
          <p:cNvSpPr/>
          <p:nvPr/>
        </p:nvSpPr>
        <p:spPr>
          <a:xfrm>
            <a:off x="4663440" y="347472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3611880"/>
            <a:ext cx="320040" cy="32004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212080" y="361188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Hands-on labs with real-world datasets</a:t>
            </a:r>
            <a:endParaRPr lang="en-US" sz="1300" dirty="0"/>
          </a:p>
        </p:txBody>
      </p:sp>
      <p:sp>
        <p:nvSpPr>
          <p:cNvPr id="22" name="Text 2"/>
          <p:cNvSpPr/>
          <p:nvPr/>
        </p:nvSpPr>
        <p:spPr>
          <a:xfrm>
            <a:off x="457200" y="4689043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</a:rPr>
              <a:t>Microsoft Elevate Internship Project | Jan-Apr 2026</a:t>
            </a:r>
            <a:endParaRPr lang="en-US" sz="1600" dirty="0"/>
          </a:p>
        </p:txBody>
      </p:sp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Elevate - Learning Modules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1-2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920240" y="109728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6" name="Text 4"/>
          <p:cNvSpPr/>
          <p:nvPr/>
        </p:nvSpPr>
        <p:spPr>
          <a:xfrm>
            <a:off x="2103120" y="1097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Data Analytics &amp; EDA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137160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45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3-5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920240" y="164592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1645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Power BI &amp; Business Intelligence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137160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94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6-7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920240" y="219456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4" name="Text 12"/>
          <p:cNvSpPr/>
          <p:nvPr/>
        </p:nvSpPr>
        <p:spPr>
          <a:xfrm>
            <a:off x="2103120" y="2194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Machine Learning (Supervised &amp; Unsupervised)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1371600" cy="4572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8-9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920240" y="274320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8" name="Text 16"/>
          <p:cNvSpPr/>
          <p:nvPr/>
        </p:nvSpPr>
        <p:spPr>
          <a:xfrm>
            <a:off x="2103120" y="2743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Deep Learning &amp; Computer Vision (CNN)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1371600" cy="45720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91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10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920240" y="329184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2" name="Text 20"/>
          <p:cNvSpPr/>
          <p:nvPr/>
        </p:nvSpPr>
        <p:spPr>
          <a:xfrm>
            <a:off x="2103120" y="3291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Generative AI &amp; Prompt Engineering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1371600" cy="4572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840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11-12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920240" y="384048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6" name="Text 24"/>
          <p:cNvSpPr/>
          <p:nvPr/>
        </p:nvSpPr>
        <p:spPr>
          <a:xfrm>
            <a:off x="2103120" y="3840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Microsoft Azure Cloud &amp; Deployment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Role During Internship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1097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Attend weekly live sessions and complete hands-on labs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5544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Work on real-world datasets for Data Analytics &amp; ML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0116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20116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Build end-to-end ML pipelines (data → model → deployment)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4688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24688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Develop Power BI dashboards for data visualization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9260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29260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Deploy AI models on Microsoft Azure Cloud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33832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3383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Complete GTU internship project under Border Defence domain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38404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7" name="Text 14"/>
          <p:cNvSpPr/>
          <p:nvPr/>
        </p:nvSpPr>
        <p:spPr>
          <a:xfrm>
            <a:off x="685800" y="38404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Maintain GitHub repository with clean code practices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4DBB98-32DE-A7CB-B38B-A76CC27E5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>
            <a:extLst>
              <a:ext uri="{FF2B5EF4-FFF2-40B4-BE49-F238E27FC236}">
                <a16:creationId xmlns:a16="http://schemas.microsoft.com/office/drawing/2014/main" id="{4E357B21-78D9-5331-DD44-396FEB707309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 Specification</a:t>
            </a: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E6162253-C0B9-CB50-9EE0-C6AA93C39B3F}"/>
              </a:ext>
            </a:extLst>
          </p:cNvPr>
          <p:cNvSpPr/>
          <p:nvPr/>
        </p:nvSpPr>
        <p:spPr>
          <a:xfrm>
            <a:off x="457200" y="1038225"/>
            <a:ext cx="8229600" cy="1674876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18D51929-402C-67DE-DA03-BF41068B0EAF}"/>
              </a:ext>
            </a:extLst>
          </p:cNvPr>
          <p:cNvSpPr/>
          <p:nvPr/>
        </p:nvSpPr>
        <p:spPr>
          <a:xfrm>
            <a:off x="632460" y="110413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Functional Requirements:</a:t>
            </a:r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125D3E5D-4261-23BA-57B6-4A54AA3551BE}"/>
              </a:ext>
            </a:extLst>
          </p:cNvPr>
          <p:cNvSpPr/>
          <p:nvPr/>
        </p:nvSpPr>
        <p:spPr>
          <a:xfrm>
            <a:off x="632460" y="1877568"/>
            <a:ext cx="5196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Real-time object detection with YOLOv8 (persons, vehicles, suspicious objects)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Anomaly detection using ensemble ML models (Isolation Forest + Random Forest) 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Video frame extraction and preprocessing (1 FPS from surveillance feeds)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Confidence-based threat prioritization and filtering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Multi-channel alert system (Email, SMS) for detected threats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Cloud storage management for videos, frames, and detection logs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Real-time dashboard visualization with Power BI</a:t>
            </a:r>
          </a:p>
        </p:txBody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26890E4C-4945-4BB9-F583-E9756944058E}"/>
              </a:ext>
            </a:extLst>
          </p:cNvPr>
          <p:cNvSpPr/>
          <p:nvPr/>
        </p:nvSpPr>
        <p:spPr>
          <a:xfrm>
            <a:off x="457200" y="3212211"/>
            <a:ext cx="8229600" cy="1416558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E3A5E0D7-FEA4-897B-B005-9BB2B0085632}"/>
              </a:ext>
            </a:extLst>
          </p:cNvPr>
          <p:cNvSpPr/>
          <p:nvPr/>
        </p:nvSpPr>
        <p:spPr>
          <a:xfrm>
            <a:off x="601980" y="329755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Non-Functional Requirements:</a:t>
            </a:r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C311CDD3-756C-F296-A1D6-067FDEEF775B}"/>
              </a:ext>
            </a:extLst>
          </p:cNvPr>
          <p:cNvSpPr/>
          <p:nvPr/>
        </p:nvSpPr>
        <p:spPr>
          <a:xfrm>
            <a:off x="601980" y="3928872"/>
            <a:ext cx="5646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Performance: Process 30+ FPS with YOLOv8, &lt;2s alert latency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Accuracy: &gt;90% detection accuracy, &lt;20% false positive rate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Scalability: Handle multiple camera feeds via Azure cloud infrastructure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Reliability: 99% uptime with Azure cloud services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Security: Encrypted data storage and secure API endpoints</a:t>
            </a:r>
          </a:p>
        </p:txBody>
      </p:sp>
    </p:spTree>
    <p:extLst>
      <p:ext uri="{BB962C8B-B14F-4D97-AF65-F5344CB8AC3E}">
        <p14:creationId xmlns:p14="http://schemas.microsoft.com/office/powerpoint/2010/main" val="415483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F2BD59-7186-5785-8710-523C86EAC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4BB9088-6951-62E3-2B75-20A73B999444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 Specification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A6A6CCF-A0D6-97F1-9B72-3BDA269F609C}"/>
              </a:ext>
            </a:extLst>
          </p:cNvPr>
          <p:cNvSpPr/>
          <p:nvPr/>
        </p:nvSpPr>
        <p:spPr>
          <a:xfrm>
            <a:off x="1005840" y="1291221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4B563D3-C7BD-F1F2-9A2D-5364D6666C33}"/>
              </a:ext>
            </a:extLst>
          </p:cNvPr>
          <p:cNvSpPr txBox="1"/>
          <p:nvPr/>
        </p:nvSpPr>
        <p:spPr>
          <a:xfrm>
            <a:off x="571500" y="1044707"/>
            <a:ext cx="616998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1.	Introduction   </a:t>
            </a:r>
            <a:r>
              <a:rPr lang="en-US" dirty="0">
                <a:solidFill>
                  <a:schemeClr val="bg2"/>
                </a:solidFill>
              </a:rPr>
              <a:t>3</a:t>
            </a:r>
            <a:endParaRPr lang="en-IN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1.1	Purpose   3</a:t>
            </a:r>
            <a:endParaRPr lang="en-IN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1.2	Scope   3</a:t>
            </a:r>
            <a:endParaRPr lang="en-IN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1.3	Definitions, Acronyms and Abbreviations  4</a:t>
            </a:r>
            <a:endParaRPr lang="en-IN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1.4	References   5</a:t>
            </a:r>
            <a:endParaRPr lang="en-IN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1.5	Overview   5</a:t>
            </a:r>
            <a:endParaRPr lang="en-IN" dirty="0">
              <a:solidFill>
                <a:schemeClr val="bg2"/>
              </a:solidFill>
            </a:endParaRPr>
          </a:p>
          <a:p>
            <a:r>
              <a:rPr lang="en-US" b="1" dirty="0">
                <a:solidFill>
                  <a:schemeClr val="bg2"/>
                </a:solidFill>
              </a:rPr>
              <a:t>2.	Overall Description</a:t>
            </a:r>
            <a:r>
              <a:rPr lang="en-US" dirty="0">
                <a:solidFill>
                  <a:schemeClr val="bg2"/>
                </a:solidFill>
              </a:rPr>
              <a:t>	   6</a:t>
            </a:r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8DB96DA-CDC5-D048-6A1A-0E7FBBC41DB1}"/>
              </a:ext>
            </a:extLst>
          </p:cNvPr>
          <p:cNvSpPr txBox="1"/>
          <p:nvPr/>
        </p:nvSpPr>
        <p:spPr>
          <a:xfrm>
            <a:off x="571500" y="3076032"/>
            <a:ext cx="40005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3.	Specific Requirements   </a:t>
            </a:r>
            <a:r>
              <a:rPr lang="en-US" dirty="0">
                <a:solidFill>
                  <a:schemeClr val="bg2"/>
                </a:solidFill>
              </a:rPr>
              <a:t>8</a:t>
            </a:r>
            <a:endParaRPr lang="en-IN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3.1	Functionality   8</a:t>
            </a:r>
            <a:endParaRPr lang="en-IN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3.2	Usability   11</a:t>
            </a:r>
            <a:endParaRPr lang="en-IN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3.3	Reliability	   12</a:t>
            </a:r>
            <a:endParaRPr lang="en-IN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3.4	Performance   12</a:t>
            </a:r>
            <a:endParaRPr lang="en-IN" dirty="0">
              <a:solidFill>
                <a:schemeClr val="bg2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AB9722-F5EA-A8D8-D558-1AAD2A95EF25}"/>
              </a:ext>
            </a:extLst>
          </p:cNvPr>
          <p:cNvSpPr txBox="1"/>
          <p:nvPr/>
        </p:nvSpPr>
        <p:spPr>
          <a:xfrm>
            <a:off x="4960620" y="3322546"/>
            <a:ext cx="37261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 3.5	Supportability   13</a:t>
            </a:r>
            <a:endParaRPr lang="en-IN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3.6	Design Constraints   14</a:t>
            </a:r>
            <a:endParaRPr lang="en-IN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3.7	Purchased Components   14</a:t>
            </a:r>
            <a:endParaRPr lang="en-IN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   3.8	Interfaces   15</a:t>
            </a:r>
            <a:endParaRPr lang="en-IN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294338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A67260-A309-84E3-D564-52D8FBB19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75D5A20-2894-57F5-2B50-108173E6510D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5FD2FF8-B83F-1D55-5AAF-46FE1C033898}"/>
              </a:ext>
            </a:extLst>
          </p:cNvPr>
          <p:cNvSpPr/>
          <p:nvPr/>
        </p:nvSpPr>
        <p:spPr>
          <a:xfrm>
            <a:off x="1005840" y="1291221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9" name="Text 2">
            <a:extLst>
              <a:ext uri="{FF2B5EF4-FFF2-40B4-BE49-F238E27FC236}">
                <a16:creationId xmlns:a16="http://schemas.microsoft.com/office/drawing/2014/main" id="{3CF4D95A-0EA2-BBE2-E102-DB39AEA7853E}"/>
              </a:ext>
            </a:extLst>
          </p:cNvPr>
          <p:cNvSpPr/>
          <p:nvPr/>
        </p:nvSpPr>
        <p:spPr>
          <a:xfrm>
            <a:off x="571500" y="461747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328B09-B34A-8D36-E042-E680907C3CEC}"/>
              </a:ext>
            </a:extLst>
          </p:cNvPr>
          <p:cNvSpPr txBox="1"/>
          <p:nvPr/>
        </p:nvSpPr>
        <p:spPr>
          <a:xfrm>
            <a:off x="457200" y="942807"/>
            <a:ext cx="8115300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chemeClr val="bg2"/>
                </a:solidFill>
              </a:rPr>
              <a:t>1. Introduction</a:t>
            </a:r>
            <a:endParaRPr lang="en-IN" sz="1500" b="1" dirty="0">
              <a:solidFill>
                <a:schemeClr val="bg2"/>
              </a:solidFill>
            </a:endParaRPr>
          </a:p>
          <a:p>
            <a:r>
              <a:rPr lang="en-US" sz="1500" dirty="0">
                <a:solidFill>
                  <a:schemeClr val="bg2"/>
                </a:solidFill>
              </a:rPr>
              <a:t>This Software Requirements Specification (SRS) describes the complete requirements for the AI-Powered Border Surveillance System with Real-Time Anomaly Detection. The system uses YOLOv8 deep learning, machine learning algorithms, and Microsoft Azure cloud services to provide automated video surveillance, object detection, anomaly detection, and real-time alerting.</a:t>
            </a:r>
          </a:p>
          <a:p>
            <a:endParaRPr lang="en-IN" sz="1500" dirty="0">
              <a:solidFill>
                <a:schemeClr val="bg2"/>
              </a:solidFill>
            </a:endParaRPr>
          </a:p>
          <a:p>
            <a:r>
              <a:rPr lang="en-US" sz="1500" b="1" dirty="0">
                <a:solidFill>
                  <a:schemeClr val="bg2"/>
                </a:solidFill>
              </a:rPr>
              <a:t>1.1 Purpose</a:t>
            </a:r>
            <a:endParaRPr lang="en-IN" sz="1500" b="1" dirty="0">
              <a:solidFill>
                <a:schemeClr val="bg2"/>
              </a:solidFill>
            </a:endParaRPr>
          </a:p>
          <a:p>
            <a:r>
              <a:rPr lang="en-US" sz="1500" dirty="0">
                <a:solidFill>
                  <a:schemeClr val="bg2"/>
                </a:solidFill>
              </a:rPr>
              <a:t>The purpose of this SRS document is to:</a:t>
            </a:r>
            <a:endParaRPr lang="en-IN" sz="1500" dirty="0">
              <a:solidFill>
                <a:schemeClr val="bg2"/>
              </a:solidFill>
            </a:endParaRPr>
          </a:p>
          <a:p>
            <a:pPr lvl="0"/>
            <a:r>
              <a:rPr lang="en-US" sz="1500" dirty="0">
                <a:solidFill>
                  <a:schemeClr val="bg2"/>
                </a:solidFill>
              </a:rPr>
              <a:t>Provide comprehensive description of the system's functionality and constraints</a:t>
            </a:r>
            <a:endParaRPr lang="en-IN" sz="1500" dirty="0">
              <a:solidFill>
                <a:schemeClr val="bg2"/>
              </a:solidFill>
            </a:endParaRPr>
          </a:p>
          <a:p>
            <a:pPr lvl="0"/>
            <a:r>
              <a:rPr lang="en-US" sz="1500" dirty="0">
                <a:solidFill>
                  <a:schemeClr val="bg2"/>
                </a:solidFill>
              </a:rPr>
              <a:t>Serve as contractual basis between development team and stakeholders</a:t>
            </a:r>
            <a:endParaRPr lang="en-IN" sz="1500" dirty="0">
              <a:solidFill>
                <a:schemeClr val="bg2"/>
              </a:solidFill>
            </a:endParaRPr>
          </a:p>
          <a:p>
            <a:pPr lvl="0"/>
            <a:r>
              <a:rPr lang="en-US" sz="1500" dirty="0">
                <a:solidFill>
                  <a:schemeClr val="bg2"/>
                </a:solidFill>
              </a:rPr>
              <a:t>Enable developers to design and implement the system correctly</a:t>
            </a:r>
            <a:endParaRPr lang="en-IN" sz="1500" dirty="0">
              <a:solidFill>
                <a:schemeClr val="bg2"/>
              </a:solidFill>
            </a:endParaRPr>
          </a:p>
          <a:p>
            <a:pPr lvl="0"/>
            <a:r>
              <a:rPr lang="en-US" sz="1500" dirty="0">
                <a:solidFill>
                  <a:schemeClr val="bg2"/>
                </a:solidFill>
              </a:rPr>
              <a:t>Provide QA team with testable requirements and acceptance criteria</a:t>
            </a:r>
            <a:endParaRPr lang="en-IN" sz="1500" dirty="0">
              <a:solidFill>
                <a:schemeClr val="bg2"/>
              </a:solidFill>
            </a:endParaRPr>
          </a:p>
          <a:p>
            <a:pPr lvl="0"/>
            <a:r>
              <a:rPr lang="en-US" sz="1500" dirty="0">
                <a:solidFill>
                  <a:schemeClr val="bg2"/>
                </a:solidFill>
              </a:rPr>
              <a:t>Serve as documentation for GTU project evaluation and MS Elevate Program</a:t>
            </a:r>
            <a:endParaRPr lang="en-IN" sz="1500" dirty="0">
              <a:solidFill>
                <a:schemeClr val="bg2"/>
              </a:solidFill>
            </a:endParaRPr>
          </a:p>
          <a:p>
            <a:r>
              <a:rPr lang="en-US" sz="1500" dirty="0">
                <a:solidFill>
                  <a:schemeClr val="bg2"/>
                </a:solidFill>
              </a:rPr>
              <a:t>Intended audience: Developers, project managers, QA testers, system administrators, Prof. Chintan Rana (Internal Guide), MS Elevate trainers, and GTU evaluation panel.</a:t>
            </a:r>
            <a:endParaRPr lang="en-IN" sz="15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4387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2509F3-080A-C3D0-2354-10F6B8B85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9048220-42D6-8B63-56AF-93E769CCF146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93852E2-D95E-1D80-C95E-16C787D4B27B}"/>
              </a:ext>
            </a:extLst>
          </p:cNvPr>
          <p:cNvSpPr/>
          <p:nvPr/>
        </p:nvSpPr>
        <p:spPr>
          <a:xfrm>
            <a:off x="1005840" y="1291221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56B207-13FA-0EE9-F4EE-D02A98FC0794}"/>
              </a:ext>
            </a:extLst>
          </p:cNvPr>
          <p:cNvSpPr txBox="1"/>
          <p:nvPr/>
        </p:nvSpPr>
        <p:spPr>
          <a:xfrm>
            <a:off x="571500" y="842780"/>
            <a:ext cx="811530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2"/>
                </a:solidFill>
              </a:rPr>
              <a:t>1.2 Scope</a:t>
            </a:r>
            <a:endParaRPr lang="en-IN" sz="1400" b="1" dirty="0">
              <a:solidFill>
                <a:schemeClr val="bg2"/>
              </a:solidFill>
            </a:endParaRPr>
          </a:p>
          <a:p>
            <a:r>
              <a:rPr lang="en-US" sz="1400" b="1" dirty="0">
                <a:solidFill>
                  <a:schemeClr val="bg2"/>
                </a:solidFill>
              </a:rPr>
              <a:t>Product Name: </a:t>
            </a:r>
            <a:r>
              <a:rPr lang="en-US" sz="1400" dirty="0">
                <a:solidFill>
                  <a:schemeClr val="bg2"/>
                </a:solidFill>
              </a:rPr>
              <a:t>AI-Powered Border Surveillance System (ABSS)</a:t>
            </a:r>
            <a:endParaRPr lang="en-IN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The AI-Powered Border Surveillance System is an intelligent, cloud-native surveillance solution for border security monitoring. Built on Microsoft Azure, it leverages computer vision and ML.</a:t>
            </a:r>
            <a:endParaRPr lang="en-IN" sz="1400" dirty="0">
              <a:solidFill>
                <a:schemeClr val="bg2"/>
              </a:solidFill>
            </a:endParaRPr>
          </a:p>
          <a:p>
            <a:r>
              <a:rPr lang="en-US" sz="1400" b="1" dirty="0">
                <a:solidFill>
                  <a:schemeClr val="bg2"/>
                </a:solidFill>
              </a:rPr>
              <a:t>The system provides:</a:t>
            </a:r>
            <a:endParaRPr lang="en-IN" sz="1400" dirty="0">
              <a:solidFill>
                <a:schemeClr val="bg2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2"/>
                </a:solidFill>
              </a:rPr>
              <a:t>Automated Object Detection:</a:t>
            </a:r>
            <a:r>
              <a:rPr lang="en-US" sz="1400" dirty="0">
                <a:solidFill>
                  <a:schemeClr val="bg2"/>
                </a:solidFill>
              </a:rPr>
              <a:t> Real-time detection of persons, vehicles, suspicious objects using YOLOv8 (75%+ </a:t>
            </a:r>
            <a:r>
              <a:rPr lang="en-US" sz="1400" dirty="0" err="1">
                <a:solidFill>
                  <a:schemeClr val="bg2"/>
                </a:solidFill>
              </a:rPr>
              <a:t>mAP</a:t>
            </a:r>
            <a:r>
              <a:rPr lang="en-US" sz="1400" dirty="0">
                <a:solidFill>
                  <a:schemeClr val="bg2"/>
                </a:solidFill>
              </a:rPr>
              <a:t>)</a:t>
            </a:r>
            <a:endParaRPr lang="en-IN" sz="1400" dirty="0">
              <a:solidFill>
                <a:schemeClr val="bg2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2"/>
                </a:solidFill>
              </a:rPr>
              <a:t>Anomaly Detection:</a:t>
            </a:r>
            <a:r>
              <a:rPr lang="en-US" sz="1400" dirty="0">
                <a:solidFill>
                  <a:schemeClr val="bg2"/>
                </a:solidFill>
              </a:rPr>
              <a:t> Identification of unusual patterns using Isolation Forest + Random Forest</a:t>
            </a:r>
            <a:endParaRPr lang="en-IN" sz="1400" dirty="0">
              <a:solidFill>
                <a:schemeClr val="bg2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2"/>
                </a:solidFill>
              </a:rPr>
              <a:t>Intelligent Alerting:</a:t>
            </a:r>
            <a:r>
              <a:rPr lang="en-US" sz="1400" dirty="0">
                <a:solidFill>
                  <a:schemeClr val="bg2"/>
                </a:solidFill>
              </a:rPr>
              <a:t> Email notifications via SendGrid for high-confidence detections (&gt;80%)</a:t>
            </a:r>
            <a:endParaRPr lang="en-IN" sz="1400" dirty="0">
              <a:solidFill>
                <a:schemeClr val="bg2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2"/>
                </a:solidFill>
              </a:rPr>
              <a:t>Cloud Storage:</a:t>
            </a:r>
            <a:r>
              <a:rPr lang="en-US" sz="1400" dirty="0">
                <a:solidFill>
                  <a:schemeClr val="bg2"/>
                </a:solidFill>
              </a:rPr>
              <a:t> Azure Blob Storage with lifecycle management (Hot → Cool tier after 30 days)</a:t>
            </a:r>
            <a:endParaRPr lang="en-IN" sz="1400" dirty="0">
              <a:solidFill>
                <a:schemeClr val="bg2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2"/>
                </a:solidFill>
              </a:rPr>
              <a:t>NoSQL Database:</a:t>
            </a:r>
            <a:r>
              <a:rPr lang="en-US" sz="1400" dirty="0">
                <a:solidFill>
                  <a:schemeClr val="bg2"/>
                </a:solidFill>
              </a:rPr>
              <a:t> Azure Cosmos DB for detection metadata with date-based partitioning</a:t>
            </a:r>
            <a:endParaRPr lang="en-IN" sz="1400" dirty="0">
              <a:solidFill>
                <a:schemeClr val="bg2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2"/>
                </a:solidFill>
              </a:rPr>
              <a:t>Power BI Dashboard:</a:t>
            </a:r>
            <a:r>
              <a:rPr lang="en-US" sz="1400" dirty="0">
                <a:solidFill>
                  <a:schemeClr val="bg2"/>
                </a:solidFill>
              </a:rPr>
              <a:t> Real-time metrics, trends, and interactive filtering</a:t>
            </a:r>
            <a:endParaRPr lang="en-IN" sz="1400" dirty="0">
              <a:solidFill>
                <a:schemeClr val="bg2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2"/>
                </a:solidFill>
              </a:rPr>
              <a:t>Serverless Architecture:</a:t>
            </a:r>
            <a:r>
              <a:rPr lang="en-US" sz="1400" dirty="0">
                <a:solidFill>
                  <a:schemeClr val="bg2"/>
                </a:solidFill>
              </a:rPr>
              <a:t> Auto-scaling Azure Functions for processing</a:t>
            </a:r>
            <a:endParaRPr lang="en-IN" sz="1400" dirty="0">
              <a:solidFill>
                <a:schemeClr val="bg2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2"/>
                </a:solidFill>
              </a:rPr>
              <a:t>Enterprise Security:</a:t>
            </a:r>
            <a:r>
              <a:rPr lang="en-US" sz="1400" dirty="0">
                <a:solidFill>
                  <a:schemeClr val="bg2"/>
                </a:solidFill>
              </a:rPr>
              <a:t> Azure Key Vault, Managed Identity, encryption at rest/transit</a:t>
            </a:r>
            <a:endParaRPr lang="en-IN" sz="1400" dirty="0">
              <a:solidFill>
                <a:schemeClr val="bg2"/>
              </a:solidFill>
            </a:endParaRPr>
          </a:p>
          <a:p>
            <a:r>
              <a:rPr lang="en-US" sz="1400" b="1" dirty="0">
                <a:solidFill>
                  <a:schemeClr val="bg2"/>
                </a:solidFill>
              </a:rPr>
              <a:t>Project Context:</a:t>
            </a:r>
            <a:endParaRPr lang="en-IN" sz="1400" dirty="0">
              <a:solidFill>
                <a:schemeClr val="bg2"/>
              </a:solidFill>
            </a:endParaRPr>
          </a:p>
          <a:p>
            <a:r>
              <a:rPr lang="en-US" sz="1400" dirty="0">
                <a:solidFill>
                  <a:schemeClr val="bg2"/>
                </a:solidFill>
              </a:rPr>
              <a:t>Developed as part of 12-week Microsoft Elevate Program internship (Jan-Apr 2026) at SAL Institute. Demonstrates practical application of 420 hours training across Data Analytics, ML, DL, and Azure Cloud.</a:t>
            </a:r>
            <a:endParaRPr lang="en-IN" sz="1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418211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F3E1A4-E361-F4C2-9EF7-1793A53E9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CE07E01-29A8-7679-E6F8-2EFD52467719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07E2712-FD1E-DD74-49E6-987D61832921}"/>
              </a:ext>
            </a:extLst>
          </p:cNvPr>
          <p:cNvSpPr/>
          <p:nvPr/>
        </p:nvSpPr>
        <p:spPr>
          <a:xfrm>
            <a:off x="1005840" y="1291221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2BC2BB-040E-8FBB-01AB-239F7267E5C2}"/>
              </a:ext>
            </a:extLst>
          </p:cNvPr>
          <p:cNvSpPr txBox="1"/>
          <p:nvPr/>
        </p:nvSpPr>
        <p:spPr>
          <a:xfrm>
            <a:off x="641555" y="966019"/>
            <a:ext cx="8045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1.3 Definitions, Acronyms and Abbreviations</a:t>
            </a:r>
            <a:endParaRPr lang="en-IN" dirty="0">
              <a:solidFill>
                <a:schemeClr val="bg2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3AF5A2E-E5E7-76C9-D68E-4D562E36B3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564651"/>
              </p:ext>
            </p:extLst>
          </p:nvPr>
        </p:nvGraphicFramePr>
        <p:xfrm>
          <a:off x="1176183" y="1481981"/>
          <a:ext cx="6975988" cy="31312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87994">
                  <a:extLst>
                    <a:ext uri="{9D8B030D-6E8A-4147-A177-3AD203B41FA5}">
                      <a16:colId xmlns:a16="http://schemas.microsoft.com/office/drawing/2014/main" val="790208827"/>
                    </a:ext>
                  </a:extLst>
                </a:gridCol>
                <a:gridCol w="3487994">
                  <a:extLst>
                    <a:ext uri="{9D8B030D-6E8A-4147-A177-3AD203B41FA5}">
                      <a16:colId xmlns:a16="http://schemas.microsoft.com/office/drawing/2014/main" val="664304499"/>
                    </a:ext>
                  </a:extLst>
                </a:gridCol>
              </a:tblGrid>
              <a:tr h="1172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Term/Acronym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Definition/Meaning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extLst>
                  <a:ext uri="{0D108BD9-81ED-4DB2-BD59-A6C34878D82A}">
                    <a16:rowId xmlns:a16="http://schemas.microsoft.com/office/drawing/2014/main" val="2442096660"/>
                  </a:ext>
                </a:extLst>
              </a:tr>
              <a:tr h="1802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ABSS</a:t>
                      </a:r>
                      <a:endParaRPr lang="en-IN" sz="9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AI-Powered Border Surveillance System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extLst>
                  <a:ext uri="{0D108BD9-81ED-4DB2-BD59-A6C34878D82A}">
                    <a16:rowId xmlns:a16="http://schemas.microsoft.com/office/drawing/2014/main" val="1442534642"/>
                  </a:ext>
                </a:extLst>
              </a:tr>
              <a:tr h="2744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YOLOv8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You Only Look Once v8 - Real-time object detection algorithm by Ultralytics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extLst>
                  <a:ext uri="{0D108BD9-81ED-4DB2-BD59-A6C34878D82A}">
                    <a16:rowId xmlns:a16="http://schemas.microsoft.com/office/drawing/2014/main" val="1995894767"/>
                  </a:ext>
                </a:extLst>
              </a:tr>
              <a:tr h="2426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CNN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Convolutional Neural Network - Deep learning architecture for images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extLst>
                  <a:ext uri="{0D108BD9-81ED-4DB2-BD59-A6C34878D82A}">
                    <a16:rowId xmlns:a16="http://schemas.microsoft.com/office/drawing/2014/main" val="3723195139"/>
                  </a:ext>
                </a:extLst>
              </a:tr>
              <a:tr h="2426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mAP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Mean Average Precision - Object detection accuracy metric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extLst>
                  <a:ext uri="{0D108BD9-81ED-4DB2-BD59-A6C34878D82A}">
                    <a16:rowId xmlns:a16="http://schemas.microsoft.com/office/drawing/2014/main" val="226272929"/>
                  </a:ext>
                </a:extLst>
              </a:tr>
              <a:tr h="1802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FPS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Frames Per Second - Video processing speed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extLst>
                  <a:ext uri="{0D108BD9-81ED-4DB2-BD59-A6C34878D82A}">
                    <a16:rowId xmlns:a16="http://schemas.microsoft.com/office/drawing/2014/main" val="1326536872"/>
                  </a:ext>
                </a:extLst>
              </a:tr>
              <a:tr h="1802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Azure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Microsoft Azure - Enterprise cloud computing platform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extLst>
                  <a:ext uri="{0D108BD9-81ED-4DB2-BD59-A6C34878D82A}">
                    <a16:rowId xmlns:a16="http://schemas.microsoft.com/office/drawing/2014/main" val="602893533"/>
                  </a:ext>
                </a:extLst>
              </a:tr>
              <a:tr h="1802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Blob Storage</a:t>
                      </a:r>
                      <a:endParaRPr lang="en-IN" sz="9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Azure Binary Large Object Storage - Cloud object storage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extLst>
                  <a:ext uri="{0D108BD9-81ED-4DB2-BD59-A6C34878D82A}">
                    <a16:rowId xmlns:a16="http://schemas.microsoft.com/office/drawing/2014/main" val="2771779104"/>
                  </a:ext>
                </a:extLst>
              </a:tr>
              <a:tr h="1802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Cosmos DB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Azure Cosmos DB - Globally distributed NoSQL database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extLst>
                  <a:ext uri="{0D108BD9-81ED-4DB2-BD59-A6C34878D82A}">
                    <a16:rowId xmlns:a16="http://schemas.microsoft.com/office/drawing/2014/main" val="2586513521"/>
                  </a:ext>
                </a:extLst>
              </a:tr>
              <a:tr h="2426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Azure Functions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Serverless compute service for event-driven code execution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extLst>
                  <a:ext uri="{0D108BD9-81ED-4DB2-BD59-A6C34878D82A}">
                    <a16:rowId xmlns:a16="http://schemas.microsoft.com/office/drawing/2014/main" val="557792557"/>
                  </a:ext>
                </a:extLst>
              </a:tr>
              <a:tr h="1802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Power BI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Microsoft Business Intelligence platform for visualization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extLst>
                  <a:ext uri="{0D108BD9-81ED-4DB2-BD59-A6C34878D82A}">
                    <a16:rowId xmlns:a16="http://schemas.microsoft.com/office/drawing/2014/main" val="1058391051"/>
                  </a:ext>
                </a:extLst>
              </a:tr>
              <a:tr h="1802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Anomaly Detection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ML technique for identifying unusual patterns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extLst>
                  <a:ext uri="{0D108BD9-81ED-4DB2-BD59-A6C34878D82A}">
                    <a16:rowId xmlns:a16="http://schemas.microsoft.com/office/drawing/2014/main" val="205866071"/>
                  </a:ext>
                </a:extLst>
              </a:tr>
              <a:tr h="1802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Isolation Forest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Unsupervised ML algorithm for anomaly detection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extLst>
                  <a:ext uri="{0D108BD9-81ED-4DB2-BD59-A6C34878D82A}">
                    <a16:rowId xmlns:a16="http://schemas.microsoft.com/office/drawing/2014/main" val="1180672683"/>
                  </a:ext>
                </a:extLst>
              </a:tr>
              <a:tr h="1802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Random Forest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Ensemble ML algorithm using decision trees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extLst>
                  <a:ext uri="{0D108BD9-81ED-4DB2-BD59-A6C34878D82A}">
                    <a16:rowId xmlns:a16="http://schemas.microsoft.com/office/drawing/2014/main" val="1768847087"/>
                  </a:ext>
                </a:extLst>
              </a:tr>
              <a:tr h="1172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SendGrid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Cloud email delivery service</a:t>
                      </a:r>
                      <a:endParaRPr lang="en-IN" sz="90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extLst>
                  <a:ext uri="{0D108BD9-81ED-4DB2-BD59-A6C34878D82A}">
                    <a16:rowId xmlns:a16="http://schemas.microsoft.com/office/drawing/2014/main" val="1078010559"/>
                  </a:ext>
                </a:extLst>
              </a:tr>
              <a:tr h="1802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Key Vault</a:t>
                      </a:r>
                      <a:endParaRPr lang="en-IN" sz="9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Azure service for secure secret storage</a:t>
                      </a:r>
                      <a:endParaRPr lang="en-IN" sz="900" dirty="0">
                        <a:effectLst/>
                        <a:latin typeface="Arial" panose="020B060402020202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35888" marR="35888" marT="0" marB="0"/>
                </a:tc>
                <a:extLst>
                  <a:ext uri="{0D108BD9-81ED-4DB2-BD59-A6C34878D82A}">
                    <a16:rowId xmlns:a16="http://schemas.microsoft.com/office/drawing/2014/main" val="1544017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0403532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C9BADC-8E0B-558F-9E35-FE03F1BE7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8E1CFB5-7419-6ED1-569E-FCC861790951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748BBCF-F57B-8AF0-184E-1915B49F3B0A}"/>
              </a:ext>
            </a:extLst>
          </p:cNvPr>
          <p:cNvSpPr/>
          <p:nvPr/>
        </p:nvSpPr>
        <p:spPr>
          <a:xfrm>
            <a:off x="1005840" y="1291221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89D0AE-7C44-2CDF-5AD1-C24872F3557E}"/>
              </a:ext>
            </a:extLst>
          </p:cNvPr>
          <p:cNvSpPr txBox="1"/>
          <p:nvPr/>
        </p:nvSpPr>
        <p:spPr>
          <a:xfrm>
            <a:off x="656303" y="1017639"/>
            <a:ext cx="8030497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>
                <a:solidFill>
                  <a:schemeClr val="bg2"/>
                </a:solidFill>
              </a:rPr>
              <a:t>1.4 References</a:t>
            </a:r>
            <a:endParaRPr lang="en-IN" sz="1700" b="1" dirty="0">
              <a:solidFill>
                <a:schemeClr val="bg2"/>
              </a:solidFill>
            </a:endParaRPr>
          </a:p>
          <a:p>
            <a:r>
              <a:rPr lang="en-US" sz="1700" dirty="0">
                <a:solidFill>
                  <a:schemeClr val="bg2"/>
                </a:solidFill>
              </a:rPr>
              <a:t>[1] IEEE Std 830-1998, IEEE Recommended Practice for Software Requirements Specifications</a:t>
            </a:r>
            <a:endParaRPr lang="en-IN" sz="1700" dirty="0">
              <a:solidFill>
                <a:schemeClr val="bg2"/>
              </a:solidFill>
            </a:endParaRPr>
          </a:p>
          <a:p>
            <a:r>
              <a:rPr lang="en-US" sz="1700" dirty="0">
                <a:solidFill>
                  <a:schemeClr val="bg2"/>
                </a:solidFill>
              </a:rPr>
              <a:t>[2] Redmon, J., &amp; Farhadi, A. (2018). YOLOv3: An Incremental Improvement. arXiv:1804.02767</a:t>
            </a:r>
            <a:endParaRPr lang="en-IN" sz="1700" dirty="0">
              <a:solidFill>
                <a:schemeClr val="bg2"/>
              </a:solidFill>
            </a:endParaRPr>
          </a:p>
          <a:p>
            <a:r>
              <a:rPr lang="en-US" sz="1700" dirty="0">
                <a:solidFill>
                  <a:schemeClr val="bg2"/>
                </a:solidFill>
              </a:rPr>
              <a:t>[3] </a:t>
            </a:r>
            <a:r>
              <a:rPr lang="en-US" sz="1700" dirty="0" err="1">
                <a:solidFill>
                  <a:schemeClr val="bg2"/>
                </a:solidFill>
              </a:rPr>
              <a:t>Jocher</a:t>
            </a:r>
            <a:r>
              <a:rPr lang="en-US" sz="1700" dirty="0">
                <a:solidFill>
                  <a:schemeClr val="bg2"/>
                </a:solidFill>
              </a:rPr>
              <a:t>, G. (2023). </a:t>
            </a:r>
            <a:r>
              <a:rPr lang="en-US" sz="1700" dirty="0" err="1">
                <a:solidFill>
                  <a:schemeClr val="bg2"/>
                </a:solidFill>
              </a:rPr>
              <a:t>Ultralytics</a:t>
            </a:r>
            <a:r>
              <a:rPr lang="en-US" sz="1700" dirty="0">
                <a:solidFill>
                  <a:schemeClr val="bg2"/>
                </a:solidFill>
              </a:rPr>
              <a:t> YOLOv8. https://github.com/ultralytics/ultralytics</a:t>
            </a:r>
            <a:endParaRPr lang="en-IN" sz="1700" dirty="0">
              <a:solidFill>
                <a:schemeClr val="bg2"/>
              </a:solidFill>
            </a:endParaRPr>
          </a:p>
          <a:p>
            <a:r>
              <a:rPr lang="en-US" sz="1700" dirty="0">
                <a:solidFill>
                  <a:schemeClr val="bg2"/>
                </a:solidFill>
              </a:rPr>
              <a:t>[4] Microsoft Azure Documentation. https://docs.microsoft.com/azure</a:t>
            </a:r>
            <a:endParaRPr lang="en-IN" sz="1700" dirty="0">
              <a:solidFill>
                <a:schemeClr val="bg2"/>
              </a:solidFill>
            </a:endParaRPr>
          </a:p>
          <a:p>
            <a:r>
              <a:rPr lang="en-US" sz="1700" dirty="0">
                <a:solidFill>
                  <a:schemeClr val="bg2"/>
                </a:solidFill>
              </a:rPr>
              <a:t>[5] Liu, F.T., Ting, K.M., &amp; Zhou, Z.H. (2008). Isolation Forest. IEEE ICDM</a:t>
            </a:r>
            <a:endParaRPr lang="en-IN" sz="1700" dirty="0">
              <a:solidFill>
                <a:schemeClr val="bg2"/>
              </a:solidFill>
            </a:endParaRPr>
          </a:p>
          <a:p>
            <a:r>
              <a:rPr lang="en-US" sz="1700" dirty="0">
                <a:solidFill>
                  <a:schemeClr val="bg2"/>
                </a:solidFill>
              </a:rPr>
              <a:t>[6] MS Elevate Program Materials. </a:t>
            </a:r>
            <a:r>
              <a:rPr lang="en-US" sz="1700" dirty="0" err="1">
                <a:solidFill>
                  <a:schemeClr val="bg2"/>
                </a:solidFill>
              </a:rPr>
              <a:t>Edunet</a:t>
            </a:r>
            <a:r>
              <a:rPr lang="en-US" sz="1700" dirty="0">
                <a:solidFill>
                  <a:schemeClr val="bg2"/>
                </a:solidFill>
              </a:rPr>
              <a:t> Foundation &amp; FICE Education, 2026</a:t>
            </a:r>
            <a:endParaRPr lang="en-IN" sz="1700" dirty="0">
              <a:solidFill>
                <a:schemeClr val="bg2"/>
              </a:solidFill>
            </a:endParaRPr>
          </a:p>
          <a:p>
            <a:r>
              <a:rPr lang="en-US" sz="1700" b="1" dirty="0">
                <a:solidFill>
                  <a:schemeClr val="bg2"/>
                </a:solidFill>
              </a:rPr>
              <a:t>1.5 Overview</a:t>
            </a:r>
            <a:endParaRPr lang="en-IN" sz="1700" b="1" dirty="0">
              <a:solidFill>
                <a:schemeClr val="bg2"/>
              </a:solidFill>
            </a:endParaRPr>
          </a:p>
          <a:p>
            <a:r>
              <a:rPr lang="en-US" sz="1700" b="1" dirty="0">
                <a:solidFill>
                  <a:schemeClr val="bg2"/>
                </a:solidFill>
              </a:rPr>
              <a:t>Section 2 - Overall Description: </a:t>
            </a:r>
            <a:r>
              <a:rPr lang="en-US" sz="1700" dirty="0">
                <a:solidFill>
                  <a:schemeClr val="bg2"/>
                </a:solidFill>
              </a:rPr>
              <a:t>High-level overview including product perspective, functions, users, environment, and constraints.</a:t>
            </a:r>
            <a:endParaRPr lang="en-IN" sz="1700" dirty="0">
              <a:solidFill>
                <a:schemeClr val="bg2"/>
              </a:solidFill>
            </a:endParaRPr>
          </a:p>
          <a:p>
            <a:r>
              <a:rPr lang="en-US" sz="1700" b="1" dirty="0">
                <a:solidFill>
                  <a:schemeClr val="bg2"/>
                </a:solidFill>
              </a:rPr>
              <a:t>Section 3 - Specific Requirements: </a:t>
            </a:r>
            <a:r>
              <a:rPr lang="en-US" sz="1700" dirty="0">
                <a:solidFill>
                  <a:schemeClr val="bg2"/>
                </a:solidFill>
              </a:rPr>
              <a:t>Detailed functional and non-functional requirements for design and testing.</a:t>
            </a:r>
            <a:endParaRPr lang="en-IN" sz="17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81063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327EF0-3325-C9C3-7674-9DEB95E95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FC69BEB-6AFA-EAC6-DB73-5D63DCA7D88F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Overall Description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E7E3EB9-8E07-14D3-6A52-A2E95CC7D2D1}"/>
              </a:ext>
            </a:extLst>
          </p:cNvPr>
          <p:cNvSpPr/>
          <p:nvPr/>
        </p:nvSpPr>
        <p:spPr>
          <a:xfrm>
            <a:off x="1005840" y="1291221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A78417-544A-FD31-0A11-4D6DA912DE81}"/>
              </a:ext>
            </a:extLst>
          </p:cNvPr>
          <p:cNvSpPr txBox="1"/>
          <p:nvPr/>
        </p:nvSpPr>
        <p:spPr>
          <a:xfrm>
            <a:off x="626806" y="961311"/>
            <a:ext cx="8059994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2. Overall Description</a:t>
            </a:r>
            <a:endParaRPr lang="en-IN" sz="1100" b="1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2.1 Product Perspective</a:t>
            </a:r>
            <a:endParaRPr lang="en-IN" sz="1100" b="1" dirty="0">
              <a:solidFill>
                <a:schemeClr val="bg2"/>
              </a:solidFill>
            </a:endParaRPr>
          </a:p>
          <a:p>
            <a:r>
              <a:rPr lang="en-US" sz="1100" dirty="0">
                <a:solidFill>
                  <a:schemeClr val="bg2"/>
                </a:solidFill>
              </a:rPr>
              <a:t>Standalone cloud-native application on Microsoft Azure with serverless architecture eliminating on-premises infrastructure.</a:t>
            </a:r>
            <a:endParaRPr lang="en-IN" sz="1100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Architecture Components: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Storage Layer:</a:t>
            </a:r>
            <a:r>
              <a:rPr lang="en-US" sz="1100" dirty="0">
                <a:solidFill>
                  <a:schemeClr val="bg2"/>
                </a:solidFill>
              </a:rPr>
              <a:t> Azure Blob Storage for video files with tiered storage (Hot/Cool)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Processing Layer:</a:t>
            </a:r>
            <a:r>
              <a:rPr lang="en-US" sz="1100" dirty="0">
                <a:solidFill>
                  <a:schemeClr val="bg2"/>
                </a:solidFill>
              </a:rPr>
              <a:t> Azure Functions (Python 3.10) for YOLOv8 detection and anomaly detection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Data Layer:</a:t>
            </a:r>
            <a:r>
              <a:rPr lang="en-US" sz="1100" dirty="0">
                <a:solidFill>
                  <a:schemeClr val="bg2"/>
                </a:solidFill>
              </a:rPr>
              <a:t> Azure Cosmos DB (SQL API) for detection metadata with date partitioning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Visualization Layer:</a:t>
            </a:r>
            <a:r>
              <a:rPr lang="en-US" sz="1100" dirty="0">
                <a:solidFill>
                  <a:schemeClr val="bg2"/>
                </a:solidFill>
              </a:rPr>
              <a:t> Power BI Service for interactive dashboards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Notification Layer:</a:t>
            </a:r>
            <a:r>
              <a:rPr lang="en-US" sz="1100" dirty="0">
                <a:solidFill>
                  <a:schemeClr val="bg2"/>
                </a:solidFill>
              </a:rPr>
              <a:t> SendGrid for email alerts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Security Layer:</a:t>
            </a:r>
            <a:r>
              <a:rPr lang="en-US" sz="1100" dirty="0">
                <a:solidFill>
                  <a:schemeClr val="bg2"/>
                </a:solidFill>
              </a:rPr>
              <a:t> Azure Key Vault for secrets, Managed Identity for auth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Monitoring Layer:</a:t>
            </a:r>
            <a:r>
              <a:rPr lang="en-US" sz="1100" dirty="0">
                <a:solidFill>
                  <a:schemeClr val="bg2"/>
                </a:solidFill>
              </a:rPr>
              <a:t> Application Insights for telemetry and monitoring</a:t>
            </a:r>
            <a:endParaRPr lang="en-IN" sz="1100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Data Flow: </a:t>
            </a:r>
            <a:r>
              <a:rPr lang="en-US" sz="1100" dirty="0">
                <a:solidFill>
                  <a:schemeClr val="bg2"/>
                </a:solidFill>
              </a:rPr>
              <a:t>Video Upload → Blob Trigger → Function (Detection) → Cosmos DB + Blob → SendGrid → Power BI</a:t>
            </a:r>
          </a:p>
          <a:p>
            <a:endParaRPr lang="en-IN" sz="1100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2.2 Product Functions</a:t>
            </a:r>
            <a:endParaRPr lang="en-IN" sz="1100" b="1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Real-Time Object Detection:</a:t>
            </a:r>
            <a:r>
              <a:rPr lang="en-US" sz="1100" dirty="0">
                <a:solidFill>
                  <a:schemeClr val="bg2"/>
                </a:solidFill>
              </a:rPr>
              <a:t> YOLOv8n model fine-tuned on 850 frames, 75%+ </a:t>
            </a:r>
            <a:r>
              <a:rPr lang="en-US" sz="1100" dirty="0" err="1">
                <a:solidFill>
                  <a:schemeClr val="bg2"/>
                </a:solidFill>
              </a:rPr>
              <a:t>mAP</a:t>
            </a:r>
            <a:r>
              <a:rPr lang="en-US" sz="1100" dirty="0">
                <a:solidFill>
                  <a:schemeClr val="bg2"/>
                </a:solidFill>
              </a:rPr>
              <a:t>, 3 classes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Anomaly Detection:</a:t>
            </a:r>
            <a:r>
              <a:rPr lang="en-US" sz="1100" dirty="0">
                <a:solidFill>
                  <a:schemeClr val="bg2"/>
                </a:solidFill>
              </a:rPr>
              <a:t> Ensemble ML (Isolation Forest + Random Forest) for spatial/behavioral anomalies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Automated Alerts:</a:t>
            </a:r>
            <a:r>
              <a:rPr lang="en-US" sz="1100" dirty="0">
                <a:solidFill>
                  <a:schemeClr val="bg2"/>
                </a:solidFill>
              </a:rPr>
              <a:t> SendGrid email with timestamp, confidence, thumbnail for &gt;80% detections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Cloud Storage:</a:t>
            </a:r>
            <a:r>
              <a:rPr lang="en-US" sz="1100" dirty="0">
                <a:solidFill>
                  <a:schemeClr val="bg2"/>
                </a:solidFill>
              </a:rPr>
              <a:t> Scalable storage with Hot tier, automatic Cool tier after 30 days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Interactive Dashboard:</a:t>
            </a:r>
            <a:r>
              <a:rPr lang="en-US" sz="1100" dirty="0">
                <a:solidFill>
                  <a:schemeClr val="bg2"/>
                </a:solidFill>
              </a:rPr>
              <a:t> KPIs, charts, timeline, filtering slicers, 15-min refresh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Serverless Processing:</a:t>
            </a:r>
            <a:r>
              <a:rPr lang="en-US" sz="1100" dirty="0">
                <a:solidFill>
                  <a:schemeClr val="bg2"/>
                </a:solidFill>
              </a:rPr>
              <a:t> Event-driven auto-scaling, handles 10+ concurrent uploads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Enterprise Security:</a:t>
            </a:r>
            <a:r>
              <a:rPr lang="en-US" sz="1100" dirty="0">
                <a:solidFill>
                  <a:schemeClr val="bg2"/>
                </a:solidFill>
              </a:rPr>
              <a:t> Encryption at rest/transit (TLS 1.2), RBAC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Performance Monitoring:</a:t>
            </a:r>
            <a:r>
              <a:rPr lang="en-US" sz="1100" dirty="0">
                <a:solidFill>
                  <a:schemeClr val="bg2"/>
                </a:solidFill>
              </a:rPr>
              <a:t> Real-time tracking, error logs, custom telemetry</a:t>
            </a:r>
            <a:endParaRPr lang="en-IN" sz="11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080136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226B6D-08EC-5158-88A1-659F8E867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B2295DD-CF22-4E31-70A6-AE1B59907969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Overall Description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6357ED7-C4FD-4B3E-BE01-B2338A4AB49F}"/>
              </a:ext>
            </a:extLst>
          </p:cNvPr>
          <p:cNvSpPr/>
          <p:nvPr/>
        </p:nvSpPr>
        <p:spPr>
          <a:xfrm>
            <a:off x="1005840" y="1291221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588D75-B146-E440-D6E1-F0ABF22A02CB}"/>
              </a:ext>
            </a:extLst>
          </p:cNvPr>
          <p:cNvSpPr txBox="1"/>
          <p:nvPr/>
        </p:nvSpPr>
        <p:spPr>
          <a:xfrm>
            <a:off x="457200" y="961311"/>
            <a:ext cx="3923071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2.3 User Characteristics</a:t>
            </a:r>
            <a:endParaRPr lang="en-IN" sz="1100" b="1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1. Security Personnel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Role: Monitor dashboard for alerts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Expertise: Basic computer literacy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Usage: Daily, 24/7 monitoring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Training: Minimal (intuitive dashboard)</a:t>
            </a:r>
            <a:endParaRPr lang="en-IN" sz="1100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2. System Administrators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Role: Deploy, configure, maintain Azure infrastructure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Expertise: Advanced (Azure proficiency, basic Python)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Usage: Weekly maintenance, on-demand troubleshooting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Training: Azure fundamentals (AZ-900 recommended)</a:t>
            </a:r>
            <a:endParaRPr lang="en-IN" sz="1100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3. Data Analysts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Role: Analyze historical data, generate reports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Expertise: Intermediate (Power BI proficiency)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Usage: Weekly/monthly analysis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Training: Power BI basics (2-4 hours)</a:t>
            </a:r>
            <a:endParaRPr lang="en-IN" sz="1100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2.4 Operating Environment</a:t>
            </a:r>
            <a:endParaRPr lang="en-IN" sz="1100" b="1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Cloud </a:t>
            </a:r>
            <a:r>
              <a:rPr lang="en-US" sz="1100" b="1" dirty="0" err="1">
                <a:solidFill>
                  <a:schemeClr val="bg2"/>
                </a:solidFill>
              </a:rPr>
              <a:t>Platform:</a:t>
            </a:r>
            <a:r>
              <a:rPr lang="en-US" sz="1100" dirty="0" err="1">
                <a:solidFill>
                  <a:schemeClr val="bg2"/>
                </a:solidFill>
              </a:rPr>
              <a:t>Microsoft</a:t>
            </a:r>
            <a:r>
              <a:rPr lang="en-US" sz="1100" dirty="0">
                <a:solidFill>
                  <a:schemeClr val="bg2"/>
                </a:solidFill>
              </a:rPr>
              <a:t> Azure (Central India region)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 err="1">
                <a:solidFill>
                  <a:schemeClr val="bg2"/>
                </a:solidFill>
              </a:rPr>
              <a:t>Runtime:</a:t>
            </a:r>
            <a:r>
              <a:rPr lang="en-US" sz="1100" dirty="0" err="1">
                <a:solidFill>
                  <a:schemeClr val="bg2"/>
                </a:solidFill>
              </a:rPr>
              <a:t>Azure</a:t>
            </a:r>
            <a:r>
              <a:rPr lang="en-US" sz="1100" dirty="0">
                <a:solidFill>
                  <a:schemeClr val="bg2"/>
                </a:solidFill>
              </a:rPr>
              <a:t> Functions with Python 3.10 runtime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 err="1">
                <a:solidFill>
                  <a:schemeClr val="bg2"/>
                </a:solidFill>
              </a:rPr>
              <a:t>Client:</a:t>
            </a:r>
            <a:r>
              <a:rPr lang="en-US" sz="1100" dirty="0" err="1">
                <a:solidFill>
                  <a:schemeClr val="bg2"/>
                </a:solidFill>
              </a:rPr>
              <a:t>Web</a:t>
            </a:r>
            <a:r>
              <a:rPr lang="en-US" sz="1100" dirty="0">
                <a:solidFill>
                  <a:schemeClr val="bg2"/>
                </a:solidFill>
              </a:rPr>
              <a:t> browser (Chrome 90+, Firefox 88+, Edge 90+)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Video Input:</a:t>
            </a:r>
            <a:r>
              <a:rPr lang="en-US" sz="1100" dirty="0">
                <a:solidFill>
                  <a:schemeClr val="bg2"/>
                </a:solidFill>
              </a:rPr>
              <a:t>MP4, AVI, MOV; 720p min, 1080p recommended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 err="1">
                <a:solidFill>
                  <a:schemeClr val="bg2"/>
                </a:solidFill>
              </a:rPr>
              <a:t>Network:Internet</a:t>
            </a:r>
            <a:r>
              <a:rPr lang="en-US" sz="1100" b="1" dirty="0">
                <a:solidFill>
                  <a:schemeClr val="bg2"/>
                </a:solidFill>
              </a:rPr>
              <a:t> connectivity (10 Mbps min for uploads)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6AC561-B867-A4A9-ABAB-13217D006BCF}"/>
              </a:ext>
            </a:extLst>
          </p:cNvPr>
          <p:cNvSpPr txBox="1"/>
          <p:nvPr/>
        </p:nvSpPr>
        <p:spPr>
          <a:xfrm>
            <a:off x="4763731" y="963977"/>
            <a:ext cx="392307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2.5 Design and Implementation Constraints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bg2"/>
                </a:solidFill>
              </a:rPr>
              <a:t>Budget:Must</a:t>
            </a:r>
            <a:r>
              <a:rPr lang="en-US" sz="1100" dirty="0">
                <a:solidFill>
                  <a:schemeClr val="bg2"/>
                </a:solidFill>
              </a:rPr>
              <a:t> operate within Azure for Students credits (₹15,600)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bg2"/>
                </a:solidFill>
              </a:rPr>
              <a:t>Languages:Python</a:t>
            </a:r>
            <a:r>
              <a:rPr lang="en-US" sz="1100" dirty="0">
                <a:solidFill>
                  <a:schemeClr val="bg2"/>
                </a:solidFill>
              </a:rPr>
              <a:t> 3.10 for ML/DL, JavaScript for dashboard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ML Framework:YOLOv8 (</a:t>
            </a:r>
            <a:r>
              <a:rPr lang="en-US" sz="1100" dirty="0" err="1">
                <a:solidFill>
                  <a:schemeClr val="bg2"/>
                </a:solidFill>
              </a:rPr>
              <a:t>Ultralytics</a:t>
            </a:r>
            <a:r>
              <a:rPr lang="en-US" sz="1100" dirty="0">
                <a:solidFill>
                  <a:schemeClr val="bg2"/>
                </a:solidFill>
              </a:rPr>
              <a:t>) mandatory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bg2"/>
                </a:solidFill>
              </a:rPr>
              <a:t>Cloud:Microsoft</a:t>
            </a:r>
            <a:r>
              <a:rPr lang="en-US" sz="1100" dirty="0">
                <a:solidFill>
                  <a:schemeClr val="bg2"/>
                </a:solidFill>
              </a:rPr>
              <a:t> Azure ecosystem only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Serverless Limits:5-minute timeout, 1.5GB memory limit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chemeClr val="bg2"/>
                </a:solidFill>
              </a:rPr>
              <a:t>Security:All</a:t>
            </a:r>
            <a:r>
              <a:rPr lang="en-US" sz="1100" dirty="0">
                <a:solidFill>
                  <a:schemeClr val="bg2"/>
                </a:solidFill>
              </a:rPr>
              <a:t> data encrypted at rest and in transit</a:t>
            </a:r>
          </a:p>
          <a:p>
            <a:r>
              <a:rPr lang="en-US" sz="1100" b="1" dirty="0">
                <a:solidFill>
                  <a:schemeClr val="bg2"/>
                </a:solidFill>
              </a:rPr>
              <a:t>2.6 Assumptions and Dependencies</a:t>
            </a:r>
          </a:p>
          <a:p>
            <a:r>
              <a:rPr lang="en-US" sz="1100" b="1" dirty="0">
                <a:solidFill>
                  <a:schemeClr val="bg2"/>
                </a:solidFill>
              </a:rPr>
              <a:t>Assumptions: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Cameras provide consistent 720p+ video quality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Network connectivity stable for uploads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Azure maintains 99.9% uptime SLA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Users have basic computer literacy</a:t>
            </a:r>
          </a:p>
          <a:p>
            <a:r>
              <a:rPr lang="en-US" sz="1100" b="1" dirty="0">
                <a:solidFill>
                  <a:schemeClr val="bg2"/>
                </a:solidFill>
              </a:rPr>
              <a:t> </a:t>
            </a:r>
          </a:p>
          <a:p>
            <a:r>
              <a:rPr lang="en-US" sz="1100" b="1" dirty="0">
                <a:solidFill>
                  <a:schemeClr val="bg2"/>
                </a:solidFill>
              </a:rPr>
              <a:t>Dependencies: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Microsoft Azure platform availability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YOLOv8 </a:t>
            </a:r>
            <a:r>
              <a:rPr lang="en-US" sz="1100" dirty="0" err="1">
                <a:solidFill>
                  <a:schemeClr val="bg2"/>
                </a:solidFill>
              </a:rPr>
              <a:t>Ultralytics</a:t>
            </a:r>
            <a:r>
              <a:rPr lang="en-US" sz="1100" dirty="0">
                <a:solidFill>
                  <a:schemeClr val="bg2"/>
                </a:solidFill>
              </a:rPr>
              <a:t> library (v8.0+)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Azure SDK for Python (azure-storage-blob, azure-cosmos)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SendGrid email API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Power BI Service for dashboard hosting</a:t>
            </a:r>
          </a:p>
        </p:txBody>
      </p:sp>
    </p:spTree>
    <p:extLst>
      <p:ext uri="{BB962C8B-B14F-4D97-AF65-F5344CB8AC3E}">
        <p14:creationId xmlns:p14="http://schemas.microsoft.com/office/powerpoint/2010/main" val="1424911439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708205-196E-B6C8-F23E-1217F5427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CC288FD-38D7-1463-E071-060F88CADE83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Specific Requirements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59DA14A-FB30-F99B-6156-7B098335E913}"/>
              </a:ext>
            </a:extLst>
          </p:cNvPr>
          <p:cNvSpPr/>
          <p:nvPr/>
        </p:nvSpPr>
        <p:spPr>
          <a:xfrm>
            <a:off x="1005840" y="1291221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68A821-D0B7-967E-FA1C-53D0F2B910FA}"/>
              </a:ext>
            </a:extLst>
          </p:cNvPr>
          <p:cNvSpPr txBox="1"/>
          <p:nvPr/>
        </p:nvSpPr>
        <p:spPr>
          <a:xfrm>
            <a:off x="457200" y="961311"/>
            <a:ext cx="3923071" cy="3985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3.1 Functionality</a:t>
            </a:r>
            <a:endParaRPr lang="en-IN" sz="1100" b="1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3.1.1 Video Upload and Storage</a:t>
            </a:r>
            <a:endParaRPr lang="en-IN" sz="1100" b="1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FR-1.1:</a:t>
            </a:r>
            <a:r>
              <a:rPr lang="en-US" sz="1100" dirty="0">
                <a:solidFill>
                  <a:schemeClr val="bg2"/>
                </a:solidFill>
              </a:rPr>
              <a:t>System shall accept MP4, AVI, MOV formats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FR-1.2:</a:t>
            </a:r>
            <a:r>
              <a:rPr lang="en-US" sz="1100" dirty="0">
                <a:solidFill>
                  <a:schemeClr val="bg2"/>
                </a:solidFill>
              </a:rPr>
              <a:t>System shall store videos in Azure Blob Storage Hot tier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FR-1.3:</a:t>
            </a:r>
            <a:r>
              <a:rPr lang="en-US" sz="1100" dirty="0">
                <a:solidFill>
                  <a:schemeClr val="bg2"/>
                </a:solidFill>
              </a:rPr>
              <a:t>System shall move videos to Cool tier after 30 days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FR-1.4:</a:t>
            </a:r>
            <a:r>
              <a:rPr lang="en-US" sz="1100" dirty="0">
                <a:solidFill>
                  <a:schemeClr val="bg2"/>
                </a:solidFill>
              </a:rPr>
              <a:t>System shall support files up to 500MB</a:t>
            </a:r>
            <a:endParaRPr lang="en-IN" sz="1100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3.1.2 Object Detection Processing</a:t>
            </a:r>
            <a:endParaRPr lang="en-IN" sz="1100" b="1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FR-2.1:</a:t>
            </a:r>
            <a:r>
              <a:rPr lang="en-US" sz="1100" dirty="0">
                <a:solidFill>
                  <a:schemeClr val="bg2"/>
                </a:solidFill>
              </a:rPr>
              <a:t>System shall auto-trigger YOLOv8 on video upload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FR-2.2:</a:t>
            </a:r>
            <a:r>
              <a:rPr lang="en-US" sz="1100" dirty="0">
                <a:solidFill>
                  <a:schemeClr val="bg2"/>
                </a:solidFill>
              </a:rPr>
              <a:t>System shall extract frames at 1 FPS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FR-2.3:</a:t>
            </a:r>
            <a:r>
              <a:rPr lang="en-US" sz="1100" dirty="0">
                <a:solidFill>
                  <a:schemeClr val="bg2"/>
                </a:solidFill>
              </a:rPr>
              <a:t>System shall detect person, vehicle, </a:t>
            </a:r>
            <a:r>
              <a:rPr lang="en-US" sz="1100" dirty="0" err="1">
                <a:solidFill>
                  <a:schemeClr val="bg2"/>
                </a:solidFill>
              </a:rPr>
              <a:t>suspicious_object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FR-2.4:</a:t>
            </a:r>
            <a:r>
              <a:rPr lang="en-US" sz="1100" dirty="0">
                <a:solidFill>
                  <a:schemeClr val="bg2"/>
                </a:solidFill>
              </a:rPr>
              <a:t>System shall assign confidence scores (0-100%)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FR-2.5:</a:t>
            </a:r>
            <a:r>
              <a:rPr lang="en-US" sz="1100" dirty="0">
                <a:solidFill>
                  <a:schemeClr val="bg2"/>
                </a:solidFill>
              </a:rPr>
              <a:t>System shall save processed frames with bounding boxes</a:t>
            </a:r>
            <a:endParaRPr lang="en-IN" sz="1100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3.1.3 Anomaly Detection</a:t>
            </a:r>
            <a:endParaRPr lang="en-IN" sz="1100" b="1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FR-3.1:</a:t>
            </a:r>
            <a:r>
              <a:rPr lang="en-US" sz="1100" dirty="0">
                <a:solidFill>
                  <a:schemeClr val="bg2"/>
                </a:solidFill>
              </a:rPr>
              <a:t>System shall use Isolation Forest + Random Forest ensemble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FR-3.2:</a:t>
            </a:r>
            <a:r>
              <a:rPr lang="en-US" sz="1100" dirty="0">
                <a:solidFill>
                  <a:schemeClr val="bg2"/>
                </a:solidFill>
              </a:rPr>
              <a:t>System shall flag unusual spatial locations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FR-3.3:</a:t>
            </a:r>
            <a:r>
              <a:rPr lang="en-US" sz="1100" dirty="0">
                <a:solidFill>
                  <a:schemeClr val="bg2"/>
                </a:solidFill>
              </a:rPr>
              <a:t>System shall mark &gt;80% confidence as priority</a:t>
            </a:r>
            <a:endParaRPr lang="en-IN" sz="1100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3.1.4 Data Storage</a:t>
            </a:r>
            <a:endParaRPr lang="en-IN" sz="1100" b="1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FR-4.1:</a:t>
            </a:r>
            <a:r>
              <a:rPr lang="en-US" sz="1100" dirty="0">
                <a:solidFill>
                  <a:schemeClr val="bg2"/>
                </a:solidFill>
              </a:rPr>
              <a:t>System shall store results in Cosmos DB: </a:t>
            </a:r>
            <a:r>
              <a:rPr lang="en-US" sz="1100" dirty="0" err="1">
                <a:solidFill>
                  <a:schemeClr val="bg2"/>
                </a:solidFill>
              </a:rPr>
              <a:t>video_id</a:t>
            </a:r>
            <a:r>
              <a:rPr lang="en-US" sz="1100" dirty="0">
                <a:solidFill>
                  <a:schemeClr val="bg2"/>
                </a:solidFill>
              </a:rPr>
              <a:t>, timestamp, class, confidence, </a:t>
            </a:r>
            <a:r>
              <a:rPr lang="en-US" sz="1100" dirty="0" err="1">
                <a:solidFill>
                  <a:schemeClr val="bg2"/>
                </a:solidFill>
              </a:rPr>
              <a:t>bbox</a:t>
            </a:r>
            <a:r>
              <a:rPr lang="en-US" sz="1100" dirty="0">
                <a:solidFill>
                  <a:schemeClr val="bg2"/>
                </a:solidFill>
              </a:rPr>
              <a:t>, </a:t>
            </a:r>
            <a:r>
              <a:rPr lang="en-US" sz="1100" dirty="0" err="1">
                <a:solidFill>
                  <a:schemeClr val="bg2"/>
                </a:solidFill>
              </a:rPr>
              <a:t>anomaly_flag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FR-4.2:</a:t>
            </a:r>
            <a:r>
              <a:rPr lang="en-US" sz="1100" dirty="0">
                <a:solidFill>
                  <a:schemeClr val="bg2"/>
                </a:solidFill>
              </a:rPr>
              <a:t>System shall partition data by date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FR-4.3:</a:t>
            </a:r>
            <a:r>
              <a:rPr lang="en-US" sz="1100" dirty="0">
                <a:solidFill>
                  <a:schemeClr val="bg2"/>
                </a:solidFill>
              </a:rPr>
              <a:t>System shall maintain upload time, duration, error logs</a:t>
            </a:r>
            <a:endParaRPr lang="en-IN" sz="1100" dirty="0">
              <a:solidFill>
                <a:schemeClr val="bg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5B23D7-74FA-845C-5CCB-A13E93455953}"/>
              </a:ext>
            </a:extLst>
          </p:cNvPr>
          <p:cNvSpPr txBox="1"/>
          <p:nvPr/>
        </p:nvSpPr>
        <p:spPr>
          <a:xfrm>
            <a:off x="4846320" y="963977"/>
            <a:ext cx="3923071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3.1.5 Alerts and Notifications</a:t>
            </a:r>
            <a:endParaRPr lang="en-IN" sz="1100" b="1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FR-5.1:</a:t>
            </a:r>
            <a:r>
              <a:rPr lang="en-US" sz="1100" dirty="0">
                <a:solidFill>
                  <a:schemeClr val="bg2"/>
                </a:solidFill>
              </a:rPr>
              <a:t>System shall send emails via SendGrid for &gt;80% confidence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FR-5.2:</a:t>
            </a:r>
            <a:r>
              <a:rPr lang="en-US" sz="1100" dirty="0">
                <a:solidFill>
                  <a:schemeClr val="bg2"/>
                </a:solidFill>
              </a:rPr>
              <a:t>Emails shall include timestamp, class, confidence, thumbnail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FR-5.3:</a:t>
            </a:r>
            <a:r>
              <a:rPr lang="en-US" sz="1100" dirty="0">
                <a:solidFill>
                  <a:schemeClr val="bg2"/>
                </a:solidFill>
              </a:rPr>
              <a:t>System shall log all alerts in Cosmos DB</a:t>
            </a:r>
            <a:endParaRPr lang="en-IN" sz="1100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3.1.6 Dashboard and Visualization</a:t>
            </a:r>
            <a:endParaRPr lang="en-IN" sz="1100" b="1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FR-6.1:</a:t>
            </a:r>
            <a:r>
              <a:rPr lang="en-US" sz="1100" dirty="0">
                <a:solidFill>
                  <a:schemeClr val="bg2"/>
                </a:solidFill>
              </a:rPr>
              <a:t>System shall provide Power BI dashboard with 15-min refresh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FR-6.2:</a:t>
            </a:r>
            <a:r>
              <a:rPr lang="en-US" sz="1100" dirty="0">
                <a:solidFill>
                  <a:schemeClr val="bg2"/>
                </a:solidFill>
              </a:rPr>
              <a:t>Dashboard shall display KPIs: Total Detections, High Confidence Alerts, Avg Processing Time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FR-6.3:</a:t>
            </a:r>
            <a:r>
              <a:rPr lang="en-US" sz="1100" dirty="0">
                <a:solidFill>
                  <a:schemeClr val="bg2"/>
                </a:solidFill>
              </a:rPr>
              <a:t>Dashboard shall show bar chart by object class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FR-6.4:</a:t>
            </a:r>
            <a:r>
              <a:rPr lang="en-US" sz="1100" dirty="0">
                <a:solidFill>
                  <a:schemeClr val="bg2"/>
                </a:solidFill>
              </a:rPr>
              <a:t>Dashboard shall show timeline visualization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FR-6.5:</a:t>
            </a:r>
            <a:r>
              <a:rPr lang="en-US" sz="1100" dirty="0">
                <a:solidFill>
                  <a:schemeClr val="bg2"/>
                </a:solidFill>
              </a:rPr>
              <a:t>Dashboard shall provide slicers: date, class, confidence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FR-6.6:</a:t>
            </a:r>
            <a:r>
              <a:rPr lang="en-US" sz="1100" dirty="0">
                <a:solidFill>
                  <a:schemeClr val="bg2"/>
                </a:solidFill>
              </a:rPr>
              <a:t>Dashboard shall display detailed alert table with drill-down</a:t>
            </a:r>
            <a:endParaRPr lang="en-IN" sz="1100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3.1.7 Security and Access Control</a:t>
            </a:r>
            <a:endParaRPr lang="en-IN" sz="1100" b="1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FR-7.1:</a:t>
            </a:r>
            <a:r>
              <a:rPr lang="en-US" sz="1100" dirty="0">
                <a:solidFill>
                  <a:schemeClr val="bg2"/>
                </a:solidFill>
              </a:rPr>
              <a:t>System shall store secrets in Azure Key Vault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FR-7.2:</a:t>
            </a:r>
            <a:r>
              <a:rPr lang="en-US" sz="1100" dirty="0">
                <a:solidFill>
                  <a:schemeClr val="bg2"/>
                </a:solidFill>
              </a:rPr>
              <a:t>System shall use Managed Identity for service auth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FR-7.3:</a:t>
            </a:r>
            <a:r>
              <a:rPr lang="en-US" sz="1100" dirty="0">
                <a:solidFill>
                  <a:schemeClr val="bg2"/>
                </a:solidFill>
              </a:rPr>
              <a:t>System shall encrypt data at rest (SSE)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FR-7.4:</a:t>
            </a:r>
            <a:r>
              <a:rPr lang="en-US" sz="1100" dirty="0">
                <a:solidFill>
                  <a:schemeClr val="bg2"/>
                </a:solidFill>
              </a:rPr>
              <a:t>System shall use HTTPS/TLS for all data in transit</a:t>
            </a:r>
            <a:endParaRPr lang="en-IN" sz="11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6383155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4959A2-77F4-A656-8123-25D793F05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6B33D0A-905F-8C1B-B0C4-6CF88C220575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Specific Requirements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D8C097A-DA2F-7DBD-1E1C-E8EF79E86F66}"/>
              </a:ext>
            </a:extLst>
          </p:cNvPr>
          <p:cNvSpPr/>
          <p:nvPr/>
        </p:nvSpPr>
        <p:spPr>
          <a:xfrm>
            <a:off x="1005840" y="1291221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99D918-44DC-63BB-453B-11AB0691F8A0}"/>
              </a:ext>
            </a:extLst>
          </p:cNvPr>
          <p:cNvSpPr txBox="1"/>
          <p:nvPr/>
        </p:nvSpPr>
        <p:spPr>
          <a:xfrm>
            <a:off x="457200" y="961311"/>
            <a:ext cx="3923071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3.2 Usability</a:t>
            </a:r>
            <a:endParaRPr lang="en-IN" sz="1100" b="1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UR-1:</a:t>
            </a:r>
            <a:r>
              <a:rPr lang="en-US" sz="1100" dirty="0">
                <a:solidFill>
                  <a:schemeClr val="bg2"/>
                </a:solidFill>
              </a:rPr>
              <a:t>Dashboard accessible without training for basic users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UR-2:</a:t>
            </a:r>
            <a:r>
              <a:rPr lang="en-US" sz="1100" dirty="0">
                <a:solidFill>
                  <a:schemeClr val="bg2"/>
                </a:solidFill>
              </a:rPr>
              <a:t>Dashboard responsive and mobile-friendly (tablet support)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UR-3:</a:t>
            </a:r>
            <a:r>
              <a:rPr lang="en-US" sz="1100" dirty="0">
                <a:solidFill>
                  <a:schemeClr val="bg2"/>
                </a:solidFill>
              </a:rPr>
              <a:t>Video upload completes in &lt;30 seconds for 100MB files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UR-4:</a:t>
            </a:r>
            <a:r>
              <a:rPr lang="en-US" sz="1100" dirty="0">
                <a:solidFill>
                  <a:schemeClr val="bg2"/>
                </a:solidFill>
              </a:rPr>
              <a:t>System provides clear error messages for failures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UR-5:</a:t>
            </a:r>
            <a:r>
              <a:rPr lang="en-US" sz="1100" dirty="0">
                <a:solidFill>
                  <a:schemeClr val="bg2"/>
                </a:solidFill>
              </a:rPr>
              <a:t>Dashboard visualizations load within 3 seconds</a:t>
            </a:r>
            <a:endParaRPr lang="en-IN" sz="1100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3.3 Reliability</a:t>
            </a:r>
            <a:endParaRPr lang="en-IN" sz="1100" b="1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RR-1:</a:t>
            </a:r>
            <a:r>
              <a:rPr lang="en-US" sz="1100" dirty="0">
                <a:solidFill>
                  <a:schemeClr val="bg2"/>
                </a:solidFill>
              </a:rPr>
              <a:t>System availability: 99.5% uptime (Azure SLA dependent)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RR-2:</a:t>
            </a:r>
            <a:r>
              <a:rPr lang="en-US" sz="1100" dirty="0">
                <a:solidFill>
                  <a:schemeClr val="bg2"/>
                </a:solidFill>
              </a:rPr>
              <a:t>MTBF: 720 hours (30 days)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RR-3:</a:t>
            </a:r>
            <a:r>
              <a:rPr lang="en-US" sz="1100" dirty="0">
                <a:solidFill>
                  <a:schemeClr val="bg2"/>
                </a:solidFill>
              </a:rPr>
              <a:t>Detection accuracy: Minimum 75% mAP@0.5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RR-4:</a:t>
            </a:r>
            <a:r>
              <a:rPr lang="en-US" sz="1100" dirty="0">
                <a:solidFill>
                  <a:schemeClr val="bg2"/>
                </a:solidFill>
              </a:rPr>
              <a:t>False positive rate: &lt;20% for high-confidence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RR-5:</a:t>
            </a:r>
            <a:r>
              <a:rPr lang="en-US" sz="1100" dirty="0">
                <a:solidFill>
                  <a:schemeClr val="bg2"/>
                </a:solidFill>
              </a:rPr>
              <a:t>Automated retry for failed uploads (3 attempts)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RR-6:</a:t>
            </a:r>
            <a:r>
              <a:rPr lang="en-US" sz="1100" dirty="0">
                <a:solidFill>
                  <a:schemeClr val="bg2"/>
                </a:solidFill>
              </a:rPr>
              <a:t>Cosmos DB automatic backups every 4 hours</a:t>
            </a:r>
            <a:endParaRPr lang="en-IN" sz="1100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3.4 Performance</a:t>
            </a:r>
            <a:endParaRPr lang="en-IN" sz="1100" b="1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PR-1:</a:t>
            </a:r>
            <a:r>
              <a:rPr lang="en-US" sz="1100" dirty="0">
                <a:solidFill>
                  <a:schemeClr val="bg2"/>
                </a:solidFill>
              </a:rPr>
              <a:t>Video processing: 30+ FPS for 720p real-time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PR-2:</a:t>
            </a:r>
            <a:r>
              <a:rPr lang="en-US" sz="1100" dirty="0">
                <a:solidFill>
                  <a:schemeClr val="bg2"/>
                </a:solidFill>
              </a:rPr>
              <a:t>Average processing: 15-20 seconds per 50MB video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PR-3:</a:t>
            </a:r>
            <a:r>
              <a:rPr lang="en-US" sz="1100" dirty="0">
                <a:solidFill>
                  <a:schemeClr val="bg2"/>
                </a:solidFill>
              </a:rPr>
              <a:t>Cosmos DB queries: &lt;500ms for dashboard data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PR-4:</a:t>
            </a:r>
            <a:r>
              <a:rPr lang="en-US" sz="1100" dirty="0">
                <a:solidFill>
                  <a:schemeClr val="bg2"/>
                </a:solidFill>
              </a:rPr>
              <a:t>Alert email delivery: Within 10 seconds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PR-5:</a:t>
            </a:r>
            <a:r>
              <a:rPr lang="en-US" sz="1100" dirty="0">
                <a:solidFill>
                  <a:schemeClr val="bg2"/>
                </a:solidFill>
              </a:rPr>
              <a:t>Handle 10 concurrent uploads without degradation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PR-6:</a:t>
            </a:r>
            <a:r>
              <a:rPr lang="en-US" sz="1100" dirty="0">
                <a:solidFill>
                  <a:schemeClr val="bg2"/>
                </a:solidFill>
              </a:rPr>
              <a:t>Blob upload speed: Minimum 5 MB/s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PR-7:</a:t>
            </a:r>
            <a:r>
              <a:rPr lang="en-US" sz="1100" dirty="0">
                <a:solidFill>
                  <a:schemeClr val="bg2"/>
                </a:solidFill>
              </a:rPr>
              <a:t>Power BI refresh: Complete within 15 minutes</a:t>
            </a:r>
            <a:endParaRPr lang="en-IN" sz="1100" dirty="0">
              <a:solidFill>
                <a:schemeClr val="bg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AB9108-AEC4-8227-6887-7AEEB982EB61}"/>
              </a:ext>
            </a:extLst>
          </p:cNvPr>
          <p:cNvSpPr txBox="1"/>
          <p:nvPr/>
        </p:nvSpPr>
        <p:spPr>
          <a:xfrm>
            <a:off x="4846320" y="963977"/>
            <a:ext cx="3923071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3.5 Supportability</a:t>
            </a:r>
            <a:endParaRPr lang="en-IN" sz="1100" b="1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SR-1:</a:t>
            </a:r>
            <a:r>
              <a:rPr lang="en-US" sz="1100" dirty="0">
                <a:solidFill>
                  <a:schemeClr val="bg2"/>
                </a:solidFill>
              </a:rPr>
              <a:t>System shall integrate Application Insights for monitoring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SR-2:</a:t>
            </a:r>
            <a:r>
              <a:rPr lang="en-US" sz="1100" dirty="0">
                <a:solidFill>
                  <a:schemeClr val="bg2"/>
                </a:solidFill>
              </a:rPr>
              <a:t>Errors logged with severity levels (Info, Warning, Error, Critical)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SR-3:</a:t>
            </a:r>
            <a:r>
              <a:rPr lang="en-US" sz="1100" dirty="0">
                <a:solidFill>
                  <a:schemeClr val="bg2"/>
                </a:solidFill>
              </a:rPr>
              <a:t>System shall maintain deployment docs and API references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SR-4:</a:t>
            </a:r>
            <a:r>
              <a:rPr lang="en-US" sz="1100" dirty="0">
                <a:solidFill>
                  <a:schemeClr val="bg2"/>
                </a:solidFill>
              </a:rPr>
              <a:t>Code version controlled on GitHub with README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SR-5:</a:t>
            </a:r>
            <a:r>
              <a:rPr lang="en-US" sz="1100" dirty="0">
                <a:solidFill>
                  <a:schemeClr val="bg2"/>
                </a:solidFill>
              </a:rPr>
              <a:t>Configuration manageable via Azure Portal without code changes</a:t>
            </a:r>
            <a:endParaRPr lang="en-IN" sz="1100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3.6 Design Constraints</a:t>
            </a:r>
            <a:endParaRPr lang="en-IN" sz="1100" b="1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DC-1:</a:t>
            </a:r>
            <a:r>
              <a:rPr lang="en-US" sz="1100" dirty="0">
                <a:solidFill>
                  <a:schemeClr val="bg2"/>
                </a:solidFill>
              </a:rPr>
              <a:t>Must use YOLOv8 architecture (project requirement)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DC-2:</a:t>
            </a:r>
            <a:r>
              <a:rPr lang="en-US" sz="1100" dirty="0">
                <a:solidFill>
                  <a:schemeClr val="bg2"/>
                </a:solidFill>
              </a:rPr>
              <a:t>Must deploy on Azure (educational license)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DC-3:</a:t>
            </a:r>
            <a:r>
              <a:rPr lang="en-US" sz="1100" dirty="0">
                <a:solidFill>
                  <a:schemeClr val="bg2"/>
                </a:solidFill>
              </a:rPr>
              <a:t>Must use Python 3.10 for Azure Functions compatibility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DC-4:</a:t>
            </a:r>
            <a:r>
              <a:rPr lang="en-US" sz="1100" dirty="0">
                <a:solidFill>
                  <a:schemeClr val="bg2"/>
                </a:solidFill>
              </a:rPr>
              <a:t>Must follow Azure Blob naming conventions (lowercase, no special chars)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DC-5:</a:t>
            </a:r>
            <a:r>
              <a:rPr lang="en-US" sz="1100" dirty="0">
                <a:solidFill>
                  <a:schemeClr val="bg2"/>
                </a:solidFill>
              </a:rPr>
              <a:t>Power BI dashboard must publish to Power BI Service</a:t>
            </a:r>
            <a:endParaRPr lang="en-IN" sz="1100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3.7 Purchased Components</a:t>
            </a:r>
            <a:endParaRPr lang="en-IN" sz="1100" b="1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Azure Blob Storage (LRS, Standard tier)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Azure Functions (Consumption plan)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Azure Cosmos DB (provisioned throughput, 400 RU/s)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SendGrid email API (free tier for development)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2"/>
                </a:solidFill>
              </a:rPr>
              <a:t>Power BI Service (free tier)</a:t>
            </a:r>
            <a:endParaRPr lang="en-IN" sz="11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9504617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FE0F04-5E3A-D1EA-8157-71F637431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893A29-B9FB-BD26-B527-C89FC44CAB4C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Specific Requirements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CA05AED-9B48-49E8-D11F-12623A7B9239}"/>
              </a:ext>
            </a:extLst>
          </p:cNvPr>
          <p:cNvSpPr/>
          <p:nvPr/>
        </p:nvSpPr>
        <p:spPr>
          <a:xfrm>
            <a:off x="1005840" y="1291221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BEC876-9691-A1E8-C377-363FE9C7937B}"/>
              </a:ext>
            </a:extLst>
          </p:cNvPr>
          <p:cNvSpPr txBox="1"/>
          <p:nvPr/>
        </p:nvSpPr>
        <p:spPr>
          <a:xfrm>
            <a:off x="457200" y="1008222"/>
            <a:ext cx="740369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2"/>
                </a:solidFill>
              </a:rPr>
              <a:t>3.8 Interfaces</a:t>
            </a:r>
            <a:endParaRPr lang="en-IN" sz="1100" b="1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3.8.1 User Interfaces</a:t>
            </a:r>
            <a:endParaRPr lang="en-IN" sz="1100" b="1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UI-1:</a:t>
            </a:r>
            <a:r>
              <a:rPr lang="en-US" sz="1100" dirty="0">
                <a:solidFill>
                  <a:schemeClr val="bg2"/>
                </a:solidFill>
              </a:rPr>
              <a:t>Azure Portal for video upload (drag-and-drop)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UI-2:</a:t>
            </a:r>
            <a:r>
              <a:rPr lang="en-US" sz="1100" dirty="0">
                <a:solidFill>
                  <a:schemeClr val="bg2"/>
                </a:solidFill>
              </a:rPr>
              <a:t>Power BI web interface (1920x1080 optimal)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UI-3:</a:t>
            </a:r>
            <a:r>
              <a:rPr lang="en-US" sz="1100" dirty="0">
                <a:solidFill>
                  <a:schemeClr val="bg2"/>
                </a:solidFill>
              </a:rPr>
              <a:t>Color scheme: Blue (#2E75B6) primary, Red (#C00000) alerts</a:t>
            </a:r>
            <a:endParaRPr lang="en-IN" sz="1100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3.8.2 Hardware Interfaces</a:t>
            </a:r>
            <a:endParaRPr lang="en-IN" sz="1100" b="1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HI-1:</a:t>
            </a:r>
            <a:r>
              <a:rPr lang="en-US" sz="1100" dirty="0">
                <a:solidFill>
                  <a:schemeClr val="bg2"/>
                </a:solidFill>
              </a:rPr>
              <a:t>Support for IP cameras, CCTV producing MP4/AVI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HI-2:</a:t>
            </a:r>
            <a:r>
              <a:rPr lang="en-US" sz="1100" dirty="0">
                <a:solidFill>
                  <a:schemeClr val="bg2"/>
                </a:solidFill>
              </a:rPr>
              <a:t>No direct hardware integration - cloud-based</a:t>
            </a:r>
            <a:endParaRPr lang="en-IN" sz="1100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3.8.3 Software Interfaces</a:t>
            </a:r>
            <a:endParaRPr lang="en-IN" sz="1100" b="1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SI-1:</a:t>
            </a:r>
            <a:r>
              <a:rPr lang="en-US" sz="1100" dirty="0">
                <a:solidFill>
                  <a:schemeClr val="bg2"/>
                </a:solidFill>
              </a:rPr>
              <a:t>Azure Blob Storage API for upload/download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SI-2:</a:t>
            </a:r>
            <a:r>
              <a:rPr lang="en-US" sz="1100" dirty="0">
                <a:solidFill>
                  <a:schemeClr val="bg2"/>
                </a:solidFill>
              </a:rPr>
              <a:t>Azure Functions runtime for serverless execution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SI-3:</a:t>
            </a:r>
            <a:r>
              <a:rPr lang="en-US" sz="1100" dirty="0">
                <a:solidFill>
                  <a:schemeClr val="bg2"/>
                </a:solidFill>
              </a:rPr>
              <a:t>Azure Cosmos DB SQL API for NoSQL operations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SI-4:</a:t>
            </a:r>
            <a:r>
              <a:rPr lang="en-US" sz="1100" dirty="0">
                <a:solidFill>
                  <a:schemeClr val="bg2"/>
                </a:solidFill>
              </a:rPr>
              <a:t>SendGrid Email API v3 for notifications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SI-5:</a:t>
            </a:r>
            <a:r>
              <a:rPr lang="en-US" sz="1100" dirty="0">
                <a:solidFill>
                  <a:schemeClr val="bg2"/>
                </a:solidFill>
              </a:rPr>
              <a:t>Power BI REST API for dashboard refresh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SI-6:</a:t>
            </a:r>
            <a:r>
              <a:rPr lang="en-US" sz="1100" dirty="0">
                <a:solidFill>
                  <a:schemeClr val="bg2"/>
                </a:solidFill>
              </a:rPr>
              <a:t>Application Insights SDK for telemetry</a:t>
            </a:r>
            <a:endParaRPr lang="en-IN" sz="1100" dirty="0">
              <a:solidFill>
                <a:schemeClr val="bg2"/>
              </a:solidFill>
            </a:endParaRPr>
          </a:p>
          <a:p>
            <a:r>
              <a:rPr lang="en-US" sz="1100" b="1" dirty="0">
                <a:solidFill>
                  <a:schemeClr val="bg2"/>
                </a:solidFill>
              </a:rPr>
              <a:t>3.8.4 Communications Interfaces</a:t>
            </a:r>
            <a:endParaRPr lang="en-IN" sz="1100" b="1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CI-1:</a:t>
            </a:r>
            <a:r>
              <a:rPr lang="en-US" sz="1100" dirty="0">
                <a:solidFill>
                  <a:schemeClr val="bg2"/>
                </a:solidFill>
              </a:rPr>
              <a:t>HTTPS protocol for all Azure communications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CI-2:</a:t>
            </a:r>
            <a:r>
              <a:rPr lang="en-US" sz="1100" dirty="0">
                <a:solidFill>
                  <a:schemeClr val="bg2"/>
                </a:solidFill>
              </a:rPr>
              <a:t>TLS 1.2+ encryption for data in transit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CI-3:</a:t>
            </a:r>
            <a:r>
              <a:rPr lang="en-US" sz="1100" dirty="0">
                <a:solidFill>
                  <a:schemeClr val="bg2"/>
                </a:solidFill>
              </a:rPr>
              <a:t>SMTP over TLS for email (SendGrid port 587)</a:t>
            </a:r>
            <a:endParaRPr lang="en-IN" sz="1100" dirty="0">
              <a:solidFill>
                <a:schemeClr val="bg2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chemeClr val="bg2"/>
                </a:solidFill>
              </a:rPr>
              <a:t>CI-4:</a:t>
            </a:r>
            <a:r>
              <a:rPr lang="en-US" sz="1100" dirty="0">
                <a:solidFill>
                  <a:schemeClr val="bg2"/>
                </a:solidFill>
              </a:rPr>
              <a:t>JSON format for all API request/response</a:t>
            </a:r>
            <a:endParaRPr lang="en-IN" sz="11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276505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Project Title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AI-Powered Border Surveillance System with Real-Time Anomaly Detection and Cloud-Based Alert Management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D9FF"/>
                </a:solidFill>
              </a:rPr>
              <a:t>Applicability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231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468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National Border Security Enhancement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346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2880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Automated threat detection replacing manual monitoring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4612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32918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Real-time alert system for security personnel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400" y="3703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Cost-effective alternative to traditional surveillance</a:t>
            </a:r>
            <a:endParaRPr lang="en-US" sz="14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69080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14400" y="4114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Scalable solution for large-scale border monitoring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54" y="36576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Defence &amp; Surveillance Challenges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9FF"/>
                </a:solidFill>
              </a:rPr>
              <a:t>Key Issues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Large-scale monitoring of vast border areas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78308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783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Delayed threat detection due to manual analysis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19456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194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High false alarm rates (animals, weather, noise)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60604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606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Limited manpower and resources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01752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017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Poor data integration from sensors and cameras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0" y="1005840"/>
            <a:ext cx="3657600" cy="274320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280160"/>
            <a:ext cx="914400" cy="9144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12080" y="2377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Solution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5303520" y="27432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AI-powered automated surveillance system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 About?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D9FF"/>
                </a:solidFill>
              </a:rPr>
              <a:t>An intelligent surveillance system that: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002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60020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Monitors border areas using video surveillance data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663440" y="146304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60020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2080" y="160020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Automatically detects unusual activities and objects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251460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65176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6517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Uses Machine Learning to identify threats in real-time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663440" y="251460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65176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12080" y="26517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Sends prioritized alerts to security personnel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457200" y="356616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703320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5840" y="37033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Deploys on Azure Cloud for scalability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4663440" y="356616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3703320"/>
            <a:ext cx="320040" cy="3200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12080" y="37033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Visualizes data through interactive Power BI dashboard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15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FF"/>
                </a:solidFill>
              </a:rPr>
              <a:t>Technology: Computer Vision + Machine Learning + Cloud Computing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1143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601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Build end-to-end AI surveillance system from scratch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600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1554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Implement object detection (persons, vehicles, weapons)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0574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057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0120" y="2011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Develop anomaly detection for unusual activities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25146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2514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60120" y="24688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Reduce false alarm rates using confidence scoring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9718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2971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60120" y="2926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Deploy scalable solution on Microsoft Azure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34290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6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60120" y="3383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Create real-time monitoring dashboard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3886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7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60120" y="3840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Align with Microsoft Elevate learning objectives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887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2344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Perform EDA on surveillance datasets (UCF-Crime, xView)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8" name="Shape 6"/>
          <p:cNvSpPr/>
          <p:nvPr/>
        </p:nvSpPr>
        <p:spPr>
          <a:xfrm>
            <a:off x="4663440" y="109728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11887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74920" y="12344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Train YOLOv8 object detection model (&gt;90% accuracy)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33172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423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246888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Build ensemble anomaly detection (Isolation Forest + RF)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33172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0" y="233172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2423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74920" y="246888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Develop alert prioritization system (&lt;20% false positives)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56616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6576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37033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Deploy on Azure (Functions, Blob Storage, Cosmos DB)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356616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356616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36576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74920" y="37033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Create Power BI dashboard for real-time monitoring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46304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Detection Module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16916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Real-time object detection (persons, vehicles, weapons)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196596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19659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Frame-by-frame video analysis (30+ FPS)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24028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2402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Bounding box generation with confidence scores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097280"/>
            <a:ext cx="3931920" cy="146304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3444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Anomaly Detection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937760" y="169164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120640" y="16916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Identify unusual movement patterns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937760" y="196596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120640" y="19659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Detect suspicious activities automatically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937760" y="224028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120640" y="22402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Machine learning-based classification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18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Powered by YOLOv8 + Ensemble Machine Learning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</a:rPr>
              <a:t>Combining state-of-the-art deep learning with traditional ML for robust threat detection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(Continued)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Alert System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Priority-based alert generation (High/Medium/Low)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20574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057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False positive filtering using confidence thresholding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3774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377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Notification via email/SMS for critical alerts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3444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Dashboard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937760" y="1737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12064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Real-time alert feed (last 24 hours)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937760" y="20574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120640" y="2057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Anomaly heatmap showing high-risk zones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937760" y="23774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120640" y="2377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Detection count trends and analytics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Seamless Integration</a:t>
            </a:r>
            <a:endParaRPr lang="en-US" sz="20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47472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31520" y="4023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8D8"/>
                </a:solidFill>
              </a:rPr>
              <a:t>Video Input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55448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→</a:t>
            </a:r>
            <a:endParaRPr lang="en-US" sz="20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40" y="347472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194560" y="4023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8D8"/>
                </a:solidFill>
              </a:rPr>
              <a:t>AI Processing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301752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→</a:t>
            </a:r>
            <a:endParaRPr lang="en-US" sz="20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3474720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657600" y="4023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8D8"/>
                </a:solidFill>
              </a:rPr>
              <a:t>Alerts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448056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→</a:t>
            </a:r>
            <a:endParaRPr lang="en-US" sz="20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3474720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120640" y="4023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8D8"/>
                </a:solidFill>
              </a:rPr>
              <a:t>Cloud Storage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594360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→</a:t>
            </a:r>
            <a:endParaRPr lang="en-US" sz="20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0" y="3474720"/>
            <a:ext cx="457200" cy="45720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583680" y="4023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8D8"/>
                </a:solidFill>
              </a:rPr>
              <a:t>Dashboard</a:t>
            </a:r>
            <a:endParaRPr lang="en-US" sz="1000" dirty="0"/>
          </a:p>
        </p:txBody>
      </p:sp>
    </p:spTree>
  </p:cSld>
  <p:clrMapOvr>
    <a:masterClrMapping/>
  </p:clrMapOvr>
  <p:transition spd="slow">
    <p:cover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00584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4" name="Shape 2"/>
          <p:cNvSpPr/>
          <p:nvPr/>
        </p:nvSpPr>
        <p:spPr>
          <a:xfrm>
            <a:off x="712592" y="975238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5" name="Text 3"/>
          <p:cNvSpPr/>
          <p:nvPr/>
        </p:nvSpPr>
        <p:spPr>
          <a:xfrm>
            <a:off x="718246" y="9829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1051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Input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3192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Frame Extraction (OpenCV)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348740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150876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0" name="Shape 8"/>
          <p:cNvSpPr/>
          <p:nvPr/>
        </p:nvSpPr>
        <p:spPr>
          <a:xfrm>
            <a:off x="741106" y="1515029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1" name="Text 9"/>
          <p:cNvSpPr/>
          <p:nvPr/>
        </p:nvSpPr>
        <p:spPr>
          <a:xfrm>
            <a:off x="743565" y="1524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Preprocessing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Resize, Normalize, Upload to Azure Blob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1912498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71600" y="201168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2049658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17" name="Text 15"/>
          <p:cNvSpPr/>
          <p:nvPr/>
        </p:nvSpPr>
        <p:spPr>
          <a:xfrm>
            <a:off x="735945" y="20345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2057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Detection Layer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YOLOv8 Object Detection + Anomaly Detection (Ensemble)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2423160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371600" y="251460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2583180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Alert Processing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93192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Confidence Filtering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2133" y="2920918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8" name="Shape 26"/>
          <p:cNvSpPr/>
          <p:nvPr/>
        </p:nvSpPr>
        <p:spPr>
          <a:xfrm>
            <a:off x="731520" y="3063240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55448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Notification Layer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93192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Email/SMS Alerts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3460526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371600" y="352044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34" name="Shape 32"/>
          <p:cNvSpPr/>
          <p:nvPr/>
        </p:nvSpPr>
        <p:spPr>
          <a:xfrm>
            <a:off x="735945" y="3635478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36432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55448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Visualization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93192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Power BI Dashboard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32546" y="4008980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371600" y="402336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40" name="Shape 38"/>
          <p:cNvSpPr/>
          <p:nvPr/>
        </p:nvSpPr>
        <p:spPr>
          <a:xfrm>
            <a:off x="731520" y="4167894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416789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7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554480" y="4069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Storage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931920" y="4069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Azure Blob + Cosmos DB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1" y="1028700"/>
            <a:ext cx="3931920" cy="210312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Programming &amp; Libraries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150876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15087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Python 3.9+ (Core language)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178308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1783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OpenCV (Video processing)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205740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20574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TensorFlow, Keras (Deep Learning)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233172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23317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Scikit-learn (Machine Learning)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260604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14400" y="2606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Pandas, NumPy (Data manipulation)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1520" y="288036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14400" y="2880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Matplotlib, Seaborn (Visualization)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54880" y="1005840"/>
            <a:ext cx="3931920" cy="210312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57300"/>
            <a:ext cx="914400" cy="9144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892040" y="2185711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B35"/>
                </a:solidFill>
              </a:rPr>
              <a:t>Object Detection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4937760" y="25374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YOLOv8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4937760" y="28117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B8D8"/>
                </a:solidFill>
              </a:rPr>
              <a:t>(Ultralytics)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4" name="Text 20"/>
          <p:cNvSpPr/>
          <p:nvPr/>
        </p:nvSpPr>
        <p:spPr>
          <a:xfrm>
            <a:off x="91440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</a:rPr>
              <a:t>Leveraging industry-standard tools and frameworks for production-grade AI development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86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Deployment Stack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5303520" cy="1828800"/>
          </a:xfrm>
          <a:prstGeom prst="rect">
            <a:avLst/>
          </a:prstGeom>
          <a:solidFill>
            <a:srgbClr val="3D4E76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14300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1143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Microsoft Azure Services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40080" y="150876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822960" y="150876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Azure Blob Storage (Video/frame storage)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40080" y="1755648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22960" y="1755648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Azure Functions (Serverless processing)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2002536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22960" y="200253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Azure Cosmos DB (Alert logs, metadata)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40080" y="2249424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22960" y="224942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Azure Computer Vision API (Enhanced analysis)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40080" y="2496312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22960" y="249631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Azure Application Insights (Monitoring)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57200" y="3017520"/>
            <a:ext cx="2560320" cy="109728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5468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DevOps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352044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•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22960" y="35204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GitHub Actions (CI/CD)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40080" y="3767328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•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22960" y="37673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Docker (Containerization)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3200400" y="3017520"/>
            <a:ext cx="2743200" cy="109728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315468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749040" y="3154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Business Intelligence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3383280" y="352044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3566160" y="352044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Power BI (Dashboard)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3383280" y="3767328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3566160" y="376732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DAX (Custom metrics)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6126480" y="1005840"/>
            <a:ext cx="2560320" cy="310896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1645920"/>
            <a:ext cx="1097280" cy="10972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309360" y="2926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Azure Cloud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6309360" y="32918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Scalable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Secure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Reliable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2336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Datasets for Training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8229600" cy="10515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09728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1188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UCF-Crime Dataset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1508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05840" y="150876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128 hours of surveillance footage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1719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05840" y="17190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1,900 videos with 13 anomaly types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1929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05840" y="1929384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Use: Anomaly detection training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240280"/>
            <a:ext cx="8229600" cy="10515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4" name="Shape 11"/>
          <p:cNvSpPr/>
          <p:nvPr/>
        </p:nvSpPr>
        <p:spPr>
          <a:xfrm>
            <a:off x="457200" y="224028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2331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xView Satellite Dataset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22960" y="2651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05840" y="265176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1 million+ annotated objects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22960" y="2862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05840" y="28620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0.3m resolution satellite imagery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22960" y="3072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05840" y="3072384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Use: Object detection training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3383280"/>
            <a:ext cx="8229600" cy="10515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3" name="Shape 20"/>
          <p:cNvSpPr/>
          <p:nvPr/>
        </p:nvSpPr>
        <p:spPr>
          <a:xfrm>
            <a:off x="457200" y="338328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" y="3474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DOTA (Aerial Images)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22960" y="3794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05840" y="379476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280,000 annotated objects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22960" y="4005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005840" y="40050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15 object categories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22960" y="4215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05840" y="4215384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Use: Vehicle/infrastructure detection</a:t>
            </a:r>
            <a:endParaRPr lang="en-US" sz="1100" dirty="0"/>
          </a:p>
        </p:txBody>
      </p:sp>
    </p:spTree>
  </p:cSld>
  <p:clrMapOvr>
    <a:masterClrMapping/>
  </p:clrMapOvr>
  <p:transition spd="slow">
    <p:randomBar dir="vert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(Weeks 1-4)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Week 1-2: Foundation &amp; Dataset Preparation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5448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6002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Download UCF-Crime and xView datasets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10512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185623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Perform EDA on surveillance videos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066544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1560" y="211226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Setup Python environment and Azure account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22576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51560" y="236829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Document findings in Jupyter notebooks</a:t>
            </a:r>
            <a:endParaRPr lang="en-US" sz="1200" dirty="0"/>
          </a:p>
        </p:txBody>
      </p:sp>
      <p:sp>
        <p:nvSpPr>
          <p:cNvPr id="14" name="Shape 7"/>
          <p:cNvSpPr/>
          <p:nvPr/>
        </p:nvSpPr>
        <p:spPr>
          <a:xfrm>
            <a:off x="457200" y="2788920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5" name="Text 8"/>
          <p:cNvSpPr/>
          <p:nvPr/>
        </p:nvSpPr>
        <p:spPr>
          <a:xfrm>
            <a:off x="640080" y="2788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Week 3-4: Object Detection Development</a:t>
            </a:r>
            <a:endParaRPr lang="en-US" sz="18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08960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51560" y="31546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Train YOLOv8 model on border surveillance data</a:t>
            </a:r>
            <a:endParaRPr lang="en-US" sz="12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64992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051560" y="341071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Fine-tune with custom annotations (Roboflow)</a:t>
            </a:r>
            <a:endParaRPr lang="en-US" sz="12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21024"/>
            <a:ext cx="228600" cy="2286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051560" y="366674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Achieve &gt;90% detection accuracy</a:t>
            </a:r>
            <a:endParaRPr lang="en-US" sz="12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77056"/>
            <a:ext cx="228600" cy="22860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051560" y="392277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Evaluate model performance (precision, recall)</a:t>
            </a:r>
            <a:endParaRPr lang="en-US" sz="1200" dirty="0"/>
          </a:p>
        </p:txBody>
      </p:sp>
    </p:spTree>
  </p:cSld>
  <p:clrMapOvr>
    <a:masterClrMapping/>
  </p:clrMapOvr>
  <p:transition spd="slow">
    <p:wheel spokes="1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(Weeks 5-8)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211580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Week 5-6: Anomaly Detection System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5448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6002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Extract features (optical flow, spatial patterns)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10512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185623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Train ensemble models (Isolation Forest + Random Forest)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066544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1560" y="211226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Implement alert prioritization logic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22576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51560" y="236829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Test on validation dataset</a:t>
            </a:r>
            <a:endParaRPr lang="en-US" sz="1200" dirty="0"/>
          </a:p>
        </p:txBody>
      </p:sp>
      <p:sp>
        <p:nvSpPr>
          <p:cNvPr id="14" name="Shape 7"/>
          <p:cNvSpPr/>
          <p:nvPr/>
        </p:nvSpPr>
        <p:spPr>
          <a:xfrm>
            <a:off x="501445" y="2793492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5" name="Text 8"/>
          <p:cNvSpPr/>
          <p:nvPr/>
        </p:nvSpPr>
        <p:spPr>
          <a:xfrm>
            <a:off x="640080" y="2788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Week 7-8: Azure Cloud Integration</a:t>
            </a:r>
            <a:endParaRPr lang="en-US" sz="18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08960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51560" y="31546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Deploy models to Azure Functions</a:t>
            </a:r>
            <a:endParaRPr lang="en-US" sz="12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64992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051560" y="341071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Setup Blob Storage for video/frame storage</a:t>
            </a:r>
            <a:endParaRPr lang="en-US" sz="12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21024"/>
            <a:ext cx="228600" cy="2286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051560" y="366674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Configure Cosmos DB for alert logs</a:t>
            </a:r>
            <a:endParaRPr lang="en-US" sz="12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77056"/>
            <a:ext cx="228600" cy="22860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051560" y="392277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Build CI/CD pipeline with GitHub Actions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(Weeks 9-12)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207008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5" name="Text 2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Week 9-10: Dashboard &amp; Visualization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5448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6002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Build Power BI dashboard (real-time alerts, heatmaps)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10512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185623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Create Streamlit web app (alternative)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066544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1560" y="211226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Implement email/SMS notification system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22576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51560" y="236829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Test end-to-end alert flow</a:t>
            </a:r>
            <a:endParaRPr lang="en-US" sz="1200" dirty="0"/>
          </a:p>
        </p:txBody>
      </p:sp>
      <p:sp>
        <p:nvSpPr>
          <p:cNvPr id="14" name="Shape 7"/>
          <p:cNvSpPr/>
          <p:nvPr/>
        </p:nvSpPr>
        <p:spPr>
          <a:xfrm>
            <a:off x="457200" y="2784348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15" name="Text 8"/>
          <p:cNvSpPr/>
          <p:nvPr/>
        </p:nvSpPr>
        <p:spPr>
          <a:xfrm>
            <a:off x="640080" y="2788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Week 11-12: Testing &amp; Documentation</a:t>
            </a:r>
            <a:endParaRPr lang="en-US" sz="18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08960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51560" y="31546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System testing (various scenarios, stress test)</a:t>
            </a:r>
            <a:endParaRPr lang="en-US" sz="12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64992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051560" y="341071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Complete GitHub repository (clean code, README)</a:t>
            </a:r>
            <a:endParaRPr lang="en-US" sz="12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21024"/>
            <a:ext cx="228600" cy="2286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051560" y="366674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Write project report (15-20 pages)</a:t>
            </a:r>
            <a:endParaRPr lang="en-US" sz="12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77056"/>
            <a:ext cx="228600" cy="22860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051560" y="392277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Prepare demo video and presentation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&amp; Success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196596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Deliverables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5087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Trained YOLOv8 model (object detection)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09928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175564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Ensemble anomaly detection model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56816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200253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Azure-deployed cloud system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03704"/>
            <a:ext cx="182880" cy="1828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224942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Power BI real-time dashboard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50592"/>
            <a:ext cx="182880" cy="1828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05840" y="249631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Complete GitHub repository</a:t>
            </a:r>
            <a:endParaRPr lang="en-US" sz="11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97480"/>
            <a:ext cx="182880" cy="18288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05840" y="27432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Project report (15-20 pages)</a:t>
            </a:r>
            <a:endParaRPr lang="en-US" sz="1100" dirty="0"/>
          </a:p>
        </p:txBody>
      </p:sp>
      <p:sp>
        <p:nvSpPr>
          <p:cNvPr id="17" name="Shape 9"/>
          <p:cNvSpPr/>
          <p:nvPr/>
        </p:nvSpPr>
        <p:spPr>
          <a:xfrm>
            <a:off x="4729808" y="1019556"/>
            <a:ext cx="3931920" cy="1965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0"/>
          <p:cNvSpPr/>
          <p:nvPr/>
        </p:nvSpPr>
        <p:spPr>
          <a:xfrm>
            <a:off x="493776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Success Metrics</a:t>
            </a:r>
            <a:endParaRPr lang="en-US" sz="1800" dirty="0"/>
          </a:p>
        </p:txBody>
      </p:sp>
      <p:sp>
        <p:nvSpPr>
          <p:cNvPr id="19" name="Text 11"/>
          <p:cNvSpPr/>
          <p:nvPr/>
        </p:nvSpPr>
        <p:spPr>
          <a:xfrm>
            <a:off x="5029200" y="1600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Detection Accuracy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6120580" y="1609344"/>
            <a:ext cx="25087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</a:rPr>
              <a:t>&gt;90% (Industry standard for surveillance)</a:t>
            </a:r>
            <a:endParaRPr lang="en-US" sz="1000" dirty="0"/>
          </a:p>
        </p:txBody>
      </p:sp>
      <p:sp>
        <p:nvSpPr>
          <p:cNvPr id="21" name="Text 13"/>
          <p:cNvSpPr/>
          <p:nvPr/>
        </p:nvSpPr>
        <p:spPr>
          <a:xfrm>
            <a:off x="502920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False Positive Rate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5884606" y="2049288"/>
            <a:ext cx="26193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</a:rPr>
              <a:t>&lt;20% (Significantly better than 30-40% manual rate)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5029200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Processing Speed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6101408" y="2338578"/>
            <a:ext cx="1808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</a:rPr>
              <a:t>&gt;20 FPS (Real-time capability)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502920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Alert Response Time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6276176" y="2697480"/>
            <a:ext cx="1712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</a:rPr>
              <a:t>&lt;1 sec (Instant notification)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457200" y="3108960"/>
            <a:ext cx="8229600" cy="91440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8" name="Text 20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Production-Ready AI System for National Security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4F363F-AD73-33A8-6A87-7BDE5810A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>
            <a:extLst>
              <a:ext uri="{FF2B5EF4-FFF2-40B4-BE49-F238E27FC236}">
                <a16:creationId xmlns:a16="http://schemas.microsoft.com/office/drawing/2014/main" id="{075C83AB-C115-98F7-0411-243A48B246C4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pic>
        <p:nvPicPr>
          <p:cNvPr id="32" name="Image 0" descr="preencoded.png">
            <a:extLst>
              <a:ext uri="{FF2B5EF4-FFF2-40B4-BE49-F238E27FC236}">
                <a16:creationId xmlns:a16="http://schemas.microsoft.com/office/drawing/2014/main" id="{F9A2337F-AAD2-F00B-BF61-7D065348C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365760"/>
            <a:ext cx="457200" cy="457200"/>
          </a:xfrm>
          <a:prstGeom prst="rect">
            <a:avLst/>
          </a:prstGeom>
        </p:spPr>
      </p:pic>
      <p:sp>
        <p:nvSpPr>
          <p:cNvPr id="33" name="Text 0">
            <a:extLst>
              <a:ext uri="{FF2B5EF4-FFF2-40B4-BE49-F238E27FC236}">
                <a16:creationId xmlns:a16="http://schemas.microsoft.com/office/drawing/2014/main" id="{B7A11568-D560-44D3-A0E7-2C7F080B608D}"/>
              </a:ext>
            </a:extLst>
          </p:cNvPr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Overview (Week 1-7)</a:t>
            </a:r>
          </a:p>
        </p:txBody>
      </p:sp>
      <p:sp>
        <p:nvSpPr>
          <p:cNvPr id="41" name="Shape 1">
            <a:extLst>
              <a:ext uri="{FF2B5EF4-FFF2-40B4-BE49-F238E27FC236}">
                <a16:creationId xmlns:a16="http://schemas.microsoft.com/office/drawing/2014/main" id="{93D44A75-684B-EABF-55F6-3BB2DE91BD96}"/>
              </a:ext>
            </a:extLst>
          </p:cNvPr>
          <p:cNvSpPr/>
          <p:nvPr/>
        </p:nvSpPr>
        <p:spPr>
          <a:xfrm>
            <a:off x="457200" y="1181100"/>
            <a:ext cx="8229600" cy="1479042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42" name="Text 2">
            <a:extLst>
              <a:ext uri="{FF2B5EF4-FFF2-40B4-BE49-F238E27FC236}">
                <a16:creationId xmlns:a16="http://schemas.microsoft.com/office/drawing/2014/main" id="{3C55D45C-28D8-FF4E-C2EE-8BB0440DA0F4}"/>
              </a:ext>
            </a:extLst>
          </p:cNvPr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FF6B35"/>
                </a:solidFill>
              </a:rPr>
              <a:t>Current Status:</a:t>
            </a:r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FD6F4065-BE2E-F1D1-2E07-8ED05200D621}"/>
              </a:ext>
            </a:extLst>
          </p:cNvPr>
          <p:cNvSpPr/>
          <p:nvPr/>
        </p:nvSpPr>
        <p:spPr>
          <a:xfrm>
            <a:off x="1051560" y="16002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Week 7 of 12 - On Track</a:t>
            </a:r>
            <a:endParaRPr lang="en-US" sz="1200" b="1" dirty="0"/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A924B378-81B2-BFE9-FBD5-8F220CA2FC97}"/>
              </a:ext>
            </a:extLst>
          </p:cNvPr>
          <p:cNvSpPr/>
          <p:nvPr/>
        </p:nvSpPr>
        <p:spPr>
          <a:xfrm>
            <a:off x="1051560" y="185623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Deep Learning foundation completed (CNN, ANN, Transfer Learning)</a:t>
            </a:r>
          </a:p>
        </p:txBody>
      </p:sp>
      <p:pic>
        <p:nvPicPr>
          <p:cNvPr id="45" name="Image 3" descr="preencoded.png">
            <a:extLst>
              <a:ext uri="{FF2B5EF4-FFF2-40B4-BE49-F238E27FC236}">
                <a16:creationId xmlns:a16="http://schemas.microsoft.com/office/drawing/2014/main" id="{9F6BC5AF-7BC7-AADA-404C-51BCA9BD51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066544"/>
            <a:ext cx="228600" cy="228600"/>
          </a:xfrm>
          <a:prstGeom prst="rect">
            <a:avLst/>
          </a:prstGeom>
        </p:spPr>
      </p:pic>
      <p:sp>
        <p:nvSpPr>
          <p:cNvPr id="46" name="Text 5">
            <a:extLst>
              <a:ext uri="{FF2B5EF4-FFF2-40B4-BE49-F238E27FC236}">
                <a16:creationId xmlns:a16="http://schemas.microsoft.com/office/drawing/2014/main" id="{E6B9E24C-D976-11FA-A59F-56BA7B45F9C9}"/>
              </a:ext>
            </a:extLst>
          </p:cNvPr>
          <p:cNvSpPr/>
          <p:nvPr/>
        </p:nvSpPr>
        <p:spPr>
          <a:xfrm>
            <a:off x="1051560" y="211226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YOLOv8 installed and tested on sample surveillance footage</a:t>
            </a:r>
            <a:endParaRPr lang="en-US" sz="1200" dirty="0"/>
          </a:p>
        </p:txBody>
      </p:sp>
      <p:pic>
        <p:nvPicPr>
          <p:cNvPr id="47" name="Image 4" descr="preencoded.png">
            <a:extLst>
              <a:ext uri="{FF2B5EF4-FFF2-40B4-BE49-F238E27FC236}">
                <a16:creationId xmlns:a16="http://schemas.microsoft.com/office/drawing/2014/main" id="{6E5A0072-A9C1-131D-2408-CDC104396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22576"/>
            <a:ext cx="228600" cy="228600"/>
          </a:xfrm>
          <a:prstGeom prst="rect">
            <a:avLst/>
          </a:prstGeom>
        </p:spPr>
      </p:pic>
      <p:sp>
        <p:nvSpPr>
          <p:cNvPr id="48" name="Text 6">
            <a:extLst>
              <a:ext uri="{FF2B5EF4-FFF2-40B4-BE49-F238E27FC236}">
                <a16:creationId xmlns:a16="http://schemas.microsoft.com/office/drawing/2014/main" id="{DC51A05D-AF69-43F9-AC20-5E0932F3CCED}"/>
              </a:ext>
            </a:extLst>
          </p:cNvPr>
          <p:cNvSpPr/>
          <p:nvPr/>
        </p:nvSpPr>
        <p:spPr>
          <a:xfrm>
            <a:off x="1051560" y="236829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Dataset prepared: 850 frames extracted from UCF-Crime videos</a:t>
            </a:r>
            <a:endParaRPr lang="en-US" sz="1200" dirty="0"/>
          </a:p>
        </p:txBody>
      </p:sp>
      <p:pic>
        <p:nvPicPr>
          <p:cNvPr id="49" name="Image 1" descr="preencoded.png">
            <a:extLst>
              <a:ext uri="{FF2B5EF4-FFF2-40B4-BE49-F238E27FC236}">
                <a16:creationId xmlns:a16="http://schemas.microsoft.com/office/drawing/2014/main" id="{C6C737E4-BC13-0057-94ED-CB8FE1535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54480"/>
            <a:ext cx="228600" cy="228600"/>
          </a:xfrm>
          <a:prstGeom prst="rect">
            <a:avLst/>
          </a:prstGeom>
        </p:spPr>
      </p:pic>
      <p:pic>
        <p:nvPicPr>
          <p:cNvPr id="50" name="Image 2" descr="preencoded.png">
            <a:extLst>
              <a:ext uri="{FF2B5EF4-FFF2-40B4-BE49-F238E27FC236}">
                <a16:creationId xmlns:a16="http://schemas.microsoft.com/office/drawing/2014/main" id="{A273E4C3-8DEB-B651-4323-95C4BDEAEC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10512"/>
            <a:ext cx="228600" cy="228600"/>
          </a:xfrm>
          <a:prstGeom prst="rect">
            <a:avLst/>
          </a:prstGeom>
        </p:spPr>
      </p:pic>
      <p:sp>
        <p:nvSpPr>
          <p:cNvPr id="51" name="Shape 1">
            <a:extLst>
              <a:ext uri="{FF2B5EF4-FFF2-40B4-BE49-F238E27FC236}">
                <a16:creationId xmlns:a16="http://schemas.microsoft.com/office/drawing/2014/main" id="{8ADD8F1D-BA08-994E-504C-05EC07E167D8}"/>
              </a:ext>
            </a:extLst>
          </p:cNvPr>
          <p:cNvSpPr/>
          <p:nvPr/>
        </p:nvSpPr>
        <p:spPr>
          <a:xfrm>
            <a:off x="457200" y="2933700"/>
            <a:ext cx="8229600" cy="184404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52" name="Text 2">
            <a:extLst>
              <a:ext uri="{FF2B5EF4-FFF2-40B4-BE49-F238E27FC236}">
                <a16:creationId xmlns:a16="http://schemas.microsoft.com/office/drawing/2014/main" id="{CB8077B6-1AE9-8D8D-584D-2084D82CCDAD}"/>
              </a:ext>
            </a:extLst>
          </p:cNvPr>
          <p:cNvSpPr/>
          <p:nvPr/>
        </p:nvSpPr>
        <p:spPr>
          <a:xfrm>
            <a:off x="640080" y="3002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Completed Phases:</a:t>
            </a:r>
          </a:p>
        </p:txBody>
      </p:sp>
      <p:sp>
        <p:nvSpPr>
          <p:cNvPr id="53" name="Text 3">
            <a:extLst>
              <a:ext uri="{FF2B5EF4-FFF2-40B4-BE49-F238E27FC236}">
                <a16:creationId xmlns:a16="http://schemas.microsoft.com/office/drawing/2014/main" id="{5E4FE565-6C11-D4A6-6014-79E94805040E}"/>
              </a:ext>
            </a:extLst>
          </p:cNvPr>
          <p:cNvSpPr/>
          <p:nvPr/>
        </p:nvSpPr>
        <p:spPr>
          <a:xfrm>
            <a:off x="1051560" y="343738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Phase 1: Foundation (Week 1-2) - Data Analytics, EDA, Power BI modules</a:t>
            </a:r>
            <a:endParaRPr lang="en-US" sz="1200" dirty="0"/>
          </a:p>
        </p:txBody>
      </p:sp>
      <p:sp>
        <p:nvSpPr>
          <p:cNvPr id="54" name="Text 4">
            <a:extLst>
              <a:ext uri="{FF2B5EF4-FFF2-40B4-BE49-F238E27FC236}">
                <a16:creationId xmlns:a16="http://schemas.microsoft.com/office/drawing/2014/main" id="{BA894298-8A0A-FD75-BA04-5C75E44B77C5}"/>
              </a:ext>
            </a:extLst>
          </p:cNvPr>
          <p:cNvSpPr/>
          <p:nvPr/>
        </p:nvSpPr>
        <p:spPr>
          <a:xfrm>
            <a:off x="1051560" y="369341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Phase 2: Machine Learning (Week 3-5) - Supervised, Unsupervised, Reinforcement Learning </a:t>
            </a:r>
          </a:p>
        </p:txBody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9394A255-A767-B654-1F64-75BE156F942C}"/>
              </a:ext>
            </a:extLst>
          </p:cNvPr>
          <p:cNvSpPr/>
          <p:nvPr/>
        </p:nvSpPr>
        <p:spPr>
          <a:xfrm>
            <a:off x="1051560" y="394944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Phase 3: Deep Learning (Week 6-7) - Neural Networks, CNN, TensorFlow/</a:t>
            </a:r>
            <a:r>
              <a:rPr lang="en-US" sz="1200" dirty="0" err="1">
                <a:solidFill>
                  <a:srgbClr val="CADCFC"/>
                </a:solidFill>
              </a:rPr>
              <a:t>Keras</a:t>
            </a:r>
            <a:endParaRPr lang="en-US" sz="1200" dirty="0"/>
          </a:p>
        </p:txBody>
      </p:sp>
      <p:pic>
        <p:nvPicPr>
          <p:cNvPr id="56" name="Image 4" descr="preencoded.png">
            <a:extLst>
              <a:ext uri="{FF2B5EF4-FFF2-40B4-BE49-F238E27FC236}">
                <a16:creationId xmlns:a16="http://schemas.microsoft.com/office/drawing/2014/main" id="{0A8C5C79-A68F-D0B9-F661-C2D37BD00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59758"/>
            <a:ext cx="228600" cy="228600"/>
          </a:xfrm>
          <a:prstGeom prst="rect">
            <a:avLst/>
          </a:prstGeom>
        </p:spPr>
      </p:pic>
      <p:sp>
        <p:nvSpPr>
          <p:cNvPr id="57" name="Text 6">
            <a:extLst>
              <a:ext uri="{FF2B5EF4-FFF2-40B4-BE49-F238E27FC236}">
                <a16:creationId xmlns:a16="http://schemas.microsoft.com/office/drawing/2014/main" id="{B85C9AF2-B2F1-E1B8-C90F-669D0839E2B3}"/>
              </a:ext>
            </a:extLst>
          </p:cNvPr>
          <p:cNvSpPr/>
          <p:nvPr/>
        </p:nvSpPr>
        <p:spPr>
          <a:xfrm>
            <a:off x="1051560" y="420547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Environment Setup - Python, TensorFlow, OpenCV, YOLOv8, Azure account</a:t>
            </a:r>
            <a:endParaRPr lang="en-US" sz="1200" dirty="0"/>
          </a:p>
        </p:txBody>
      </p:sp>
      <p:pic>
        <p:nvPicPr>
          <p:cNvPr id="58" name="Image 1" descr="preencoded.png">
            <a:extLst>
              <a:ext uri="{FF2B5EF4-FFF2-40B4-BE49-F238E27FC236}">
                <a16:creationId xmlns:a16="http://schemas.microsoft.com/office/drawing/2014/main" id="{33EC8842-2770-C33E-A03C-8EDE4D6BC9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91662"/>
            <a:ext cx="228600" cy="228600"/>
          </a:xfrm>
          <a:prstGeom prst="rect">
            <a:avLst/>
          </a:prstGeom>
        </p:spPr>
      </p:pic>
      <p:pic>
        <p:nvPicPr>
          <p:cNvPr id="59" name="Image 2" descr="preencoded.png">
            <a:extLst>
              <a:ext uri="{FF2B5EF4-FFF2-40B4-BE49-F238E27FC236}">
                <a16:creationId xmlns:a16="http://schemas.microsoft.com/office/drawing/2014/main" id="{FA52E49C-0FF9-D8C5-3E09-1582BD965F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47694"/>
            <a:ext cx="228600" cy="228600"/>
          </a:xfrm>
          <a:prstGeom prst="rect">
            <a:avLst/>
          </a:prstGeom>
        </p:spPr>
      </p:pic>
      <p:pic>
        <p:nvPicPr>
          <p:cNvPr id="60" name="Image 3" descr="preencoded.png">
            <a:extLst>
              <a:ext uri="{FF2B5EF4-FFF2-40B4-BE49-F238E27FC236}">
                <a16:creationId xmlns:a16="http://schemas.microsoft.com/office/drawing/2014/main" id="{1EAF5C1B-BA70-809A-68C3-379F6A26D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40" y="3903726"/>
            <a:ext cx="228600" cy="228600"/>
          </a:xfrm>
          <a:prstGeom prst="rect">
            <a:avLst/>
          </a:prstGeom>
        </p:spPr>
      </p:pic>
      <p:pic>
        <p:nvPicPr>
          <p:cNvPr id="61" name="Image 4" descr="preencoded.png">
            <a:extLst>
              <a:ext uri="{FF2B5EF4-FFF2-40B4-BE49-F238E27FC236}">
                <a16:creationId xmlns:a16="http://schemas.microsoft.com/office/drawing/2014/main" id="{04366092-0E70-8444-031E-BE911DDFC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443222"/>
            <a:ext cx="228600" cy="228600"/>
          </a:xfrm>
          <a:prstGeom prst="rect">
            <a:avLst/>
          </a:prstGeom>
        </p:spPr>
      </p:pic>
      <p:sp>
        <p:nvSpPr>
          <p:cNvPr id="62" name="Text 6">
            <a:extLst>
              <a:ext uri="{FF2B5EF4-FFF2-40B4-BE49-F238E27FC236}">
                <a16:creationId xmlns:a16="http://schemas.microsoft.com/office/drawing/2014/main" id="{E5E8D949-D87D-61B6-4904-B229261EA90F}"/>
              </a:ext>
            </a:extLst>
          </p:cNvPr>
          <p:cNvSpPr/>
          <p:nvPr/>
        </p:nvSpPr>
        <p:spPr>
          <a:xfrm>
            <a:off x="1051560" y="447217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Dataset Collection - 850 surveillance frames organized in train/</a:t>
            </a:r>
            <a:r>
              <a:rPr lang="en-US" sz="1200" dirty="0" err="1">
                <a:solidFill>
                  <a:srgbClr val="CADCFC"/>
                </a:solidFill>
              </a:rPr>
              <a:t>val</a:t>
            </a:r>
            <a:r>
              <a:rPr lang="en-US" sz="1200" dirty="0">
                <a:solidFill>
                  <a:srgbClr val="CADCFC"/>
                </a:solidFill>
              </a:rPr>
              <a:t> splits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22141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B80FF5-1C0E-90E2-17F7-8C29E448E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>
            <a:extLst>
              <a:ext uri="{FF2B5EF4-FFF2-40B4-BE49-F238E27FC236}">
                <a16:creationId xmlns:a16="http://schemas.microsoft.com/office/drawing/2014/main" id="{41BA4956-03DE-FEB5-EFBB-2B9BC5FB11D7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pic>
        <p:nvPicPr>
          <p:cNvPr id="32" name="Image 0" descr="preencoded.png">
            <a:extLst>
              <a:ext uri="{FF2B5EF4-FFF2-40B4-BE49-F238E27FC236}">
                <a16:creationId xmlns:a16="http://schemas.microsoft.com/office/drawing/2014/main" id="{FCEF9D98-BF4A-853B-D48F-1B12794E0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365760"/>
            <a:ext cx="457200" cy="457200"/>
          </a:xfrm>
          <a:prstGeom prst="rect">
            <a:avLst/>
          </a:prstGeom>
        </p:spPr>
      </p:pic>
      <p:sp>
        <p:nvSpPr>
          <p:cNvPr id="33" name="Text 0">
            <a:extLst>
              <a:ext uri="{FF2B5EF4-FFF2-40B4-BE49-F238E27FC236}">
                <a16:creationId xmlns:a16="http://schemas.microsoft.com/office/drawing/2014/main" id="{030E7A9E-833D-01A2-0FF9-51CBC70ED9C7}"/>
              </a:ext>
            </a:extLst>
          </p:cNvPr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Overview (Continued)</a:t>
            </a:r>
          </a:p>
        </p:txBody>
      </p:sp>
      <p:sp>
        <p:nvSpPr>
          <p:cNvPr id="41" name="Shape 1">
            <a:extLst>
              <a:ext uri="{FF2B5EF4-FFF2-40B4-BE49-F238E27FC236}">
                <a16:creationId xmlns:a16="http://schemas.microsoft.com/office/drawing/2014/main" id="{2F4B84A3-5176-9211-ECC5-872481EBBDF0}"/>
              </a:ext>
            </a:extLst>
          </p:cNvPr>
          <p:cNvSpPr/>
          <p:nvPr/>
        </p:nvSpPr>
        <p:spPr>
          <a:xfrm>
            <a:off x="457200" y="1181100"/>
            <a:ext cx="8229600" cy="1479042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42" name="Text 2">
            <a:extLst>
              <a:ext uri="{FF2B5EF4-FFF2-40B4-BE49-F238E27FC236}">
                <a16:creationId xmlns:a16="http://schemas.microsoft.com/office/drawing/2014/main" id="{1B01FC32-CE53-B24A-336A-C5C5D42F7B97}"/>
              </a:ext>
            </a:extLst>
          </p:cNvPr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FF6B35"/>
                </a:solidFill>
              </a:rPr>
              <a:t>Ongoing Tasks (Week 8):</a:t>
            </a:r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14869A64-F93D-6CE6-D3F6-0F9AC06F0CC6}"/>
              </a:ext>
            </a:extLst>
          </p:cNvPr>
          <p:cNvSpPr/>
          <p:nvPr/>
        </p:nvSpPr>
        <p:spPr>
          <a:xfrm>
            <a:off x="1051560" y="16002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b="1" dirty="0"/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60EA056F-DC47-B89A-5E7B-D31FD53C073B}"/>
              </a:ext>
            </a:extLst>
          </p:cNvPr>
          <p:cNvSpPr/>
          <p:nvPr/>
        </p:nvSpPr>
        <p:spPr>
          <a:xfrm>
            <a:off x="624840" y="192862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⏳ Dataset annotation with bounding boxes (680 training + 170 validation frames)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⏳ YOLOv8 fine-tuning on custom surveillance dataset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⏳ Azure cloud setup (Storage Account, Blob containers)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⏳ Implementation of anomaly detection ensemble model</a:t>
            </a:r>
          </a:p>
        </p:txBody>
      </p:sp>
      <p:sp>
        <p:nvSpPr>
          <p:cNvPr id="48" name="Text 6">
            <a:extLst>
              <a:ext uri="{FF2B5EF4-FFF2-40B4-BE49-F238E27FC236}">
                <a16:creationId xmlns:a16="http://schemas.microsoft.com/office/drawing/2014/main" id="{DBBD315F-57A8-4FF4-2382-3FAA7D154F11}"/>
              </a:ext>
            </a:extLst>
          </p:cNvPr>
          <p:cNvSpPr/>
          <p:nvPr/>
        </p:nvSpPr>
        <p:spPr>
          <a:xfrm>
            <a:off x="1051560" y="236829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2" name="Text 2">
            <a:extLst>
              <a:ext uri="{FF2B5EF4-FFF2-40B4-BE49-F238E27FC236}">
                <a16:creationId xmlns:a16="http://schemas.microsoft.com/office/drawing/2014/main" id="{DA46EDFA-9DC5-4FDB-B288-1340594D5CA5}"/>
              </a:ext>
            </a:extLst>
          </p:cNvPr>
          <p:cNvSpPr/>
          <p:nvPr/>
        </p:nvSpPr>
        <p:spPr>
          <a:xfrm>
            <a:off x="640080" y="3002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b="1" dirty="0">
              <a:solidFill>
                <a:srgbClr val="00D9FF"/>
              </a:solidFill>
            </a:endParaRPr>
          </a:p>
        </p:txBody>
      </p:sp>
      <p:sp>
        <p:nvSpPr>
          <p:cNvPr id="53" name="Text 3">
            <a:extLst>
              <a:ext uri="{FF2B5EF4-FFF2-40B4-BE49-F238E27FC236}">
                <a16:creationId xmlns:a16="http://schemas.microsoft.com/office/drawing/2014/main" id="{221D5DB7-45F8-B1F6-AB9C-CC67D4EE874E}"/>
              </a:ext>
            </a:extLst>
          </p:cNvPr>
          <p:cNvSpPr/>
          <p:nvPr/>
        </p:nvSpPr>
        <p:spPr>
          <a:xfrm>
            <a:off x="1051560" y="343738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4" name="Text 4">
            <a:extLst>
              <a:ext uri="{FF2B5EF4-FFF2-40B4-BE49-F238E27FC236}">
                <a16:creationId xmlns:a16="http://schemas.microsoft.com/office/drawing/2014/main" id="{33ACFD31-E823-BF1A-3FFE-4A31E081ED3B}"/>
              </a:ext>
            </a:extLst>
          </p:cNvPr>
          <p:cNvSpPr/>
          <p:nvPr/>
        </p:nvSpPr>
        <p:spPr>
          <a:xfrm>
            <a:off x="1051560" y="369341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solidFill>
                <a:srgbClr val="CADCFC"/>
              </a:solidFill>
            </a:endParaRPr>
          </a:p>
        </p:txBody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4C83F32B-BC77-58A7-7B06-5164A2E97A60}"/>
              </a:ext>
            </a:extLst>
          </p:cNvPr>
          <p:cNvSpPr/>
          <p:nvPr/>
        </p:nvSpPr>
        <p:spPr>
          <a:xfrm>
            <a:off x="1051560" y="394944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9A3674AD-5466-2B3E-93A4-FD30571DD570}"/>
              </a:ext>
            </a:extLst>
          </p:cNvPr>
          <p:cNvSpPr/>
          <p:nvPr/>
        </p:nvSpPr>
        <p:spPr>
          <a:xfrm>
            <a:off x="1051560" y="447217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31725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D9FF"/>
                </a:solidFill>
              </a:rPr>
              <a:t>This project demonstrates: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508760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155448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Practical application of AI/ML in national security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82880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37360" y="187452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Integration of Microsoft Elevate learnings (all 12 weeks)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148840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737360" y="219456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End-to-end system development (data → deployment)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468880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37360" y="251460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Cloud computing skills using Azure platform</a:t>
            </a:r>
            <a:endParaRPr lang="en-US" sz="13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788920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737360" y="283464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Real-world problem-solving approach</a:t>
            </a:r>
            <a:endParaRPr lang="en-US" sz="1300" dirty="0"/>
          </a:p>
        </p:txBody>
      </p:sp>
      <p:sp>
        <p:nvSpPr>
          <p:cNvPr id="14" name="Text 7"/>
          <p:cNvSpPr/>
          <p:nvPr/>
        </p:nvSpPr>
        <p:spPr>
          <a:xfrm>
            <a:off x="457200" y="304038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B35"/>
                </a:solidFill>
              </a:rPr>
              <a:t>Impact:</a:t>
            </a:r>
            <a:endParaRPr lang="en-US" sz="18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3383280"/>
            <a:ext cx="228600" cy="2286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965960" y="34290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Enhances border security through automation</a:t>
            </a:r>
            <a:endParaRPr lang="en-US" sz="13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3675888"/>
            <a:ext cx="228600" cy="22860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965960" y="3721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Reduces manual monitoring burden</a:t>
            </a:r>
            <a:endParaRPr lang="en-US" sz="13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3968496"/>
            <a:ext cx="228600" cy="22860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965960" y="401421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Improves threat detection speed and accuracy</a:t>
            </a:r>
            <a:endParaRPr lang="en-US" sz="130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4261104"/>
            <a:ext cx="228600" cy="22860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1965960" y="430682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Scalable solution for large-scale surveillance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F1928D-0C17-DD18-5A83-026ACF559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AE9711-F76D-6713-D378-FDDB880EC04D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- Code Snippets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C933059-D492-EAB0-423F-3B1AFACCBB32}"/>
              </a:ext>
            </a:extLst>
          </p:cNvPr>
          <p:cNvSpPr/>
          <p:nvPr/>
        </p:nvSpPr>
        <p:spPr>
          <a:xfrm>
            <a:off x="227863" y="1002410"/>
            <a:ext cx="2284526" cy="3865626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FA07E62-65C0-2771-62FC-BA2A9F1C0631}"/>
              </a:ext>
            </a:extLst>
          </p:cNvPr>
          <p:cNvSpPr/>
          <p:nvPr/>
        </p:nvSpPr>
        <p:spPr>
          <a:xfrm>
            <a:off x="363669" y="113957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0D9FF"/>
                </a:solidFill>
              </a:rPr>
              <a:t>YOLOv8 Object Detection:</a:t>
            </a: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B3EC3D90-8F85-A584-3550-AFF84223A777}"/>
              </a:ext>
            </a:extLst>
          </p:cNvPr>
          <p:cNvSpPr/>
          <p:nvPr/>
        </p:nvSpPr>
        <p:spPr>
          <a:xfrm>
            <a:off x="410742" y="2966430"/>
            <a:ext cx="1736007" cy="314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from </a:t>
            </a:r>
            <a:r>
              <a:rPr lang="en-US" sz="1000" dirty="0" err="1">
                <a:solidFill>
                  <a:srgbClr val="CADCFC"/>
                </a:solidFill>
              </a:rPr>
              <a:t>ultralytics</a:t>
            </a:r>
            <a:r>
              <a:rPr lang="en-US" sz="1000" dirty="0">
                <a:solidFill>
                  <a:srgbClr val="CADCFC"/>
                </a:solidFill>
              </a:rPr>
              <a:t> import YOLO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# Load YOLOv8 model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model = YOLO('yolov8n.pt')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# Run inference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results = </a:t>
            </a:r>
            <a:r>
              <a:rPr lang="en-US" sz="1000" dirty="0" err="1">
                <a:solidFill>
                  <a:srgbClr val="CADCFC"/>
                </a:solidFill>
              </a:rPr>
              <a:t>model.predict</a:t>
            </a:r>
            <a:r>
              <a:rPr lang="en-US" sz="1000" dirty="0">
                <a:solidFill>
                  <a:srgbClr val="CADCFC"/>
                </a:solidFill>
              </a:rPr>
              <a:t>(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source='surveillance_frame.jpg',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conf=0.5,  # 50% confidence threshold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save=True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# Process detections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for r in results: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boxes = </a:t>
            </a:r>
            <a:r>
              <a:rPr lang="en-US" sz="1000" dirty="0" err="1">
                <a:solidFill>
                  <a:srgbClr val="CADCFC"/>
                </a:solidFill>
              </a:rPr>
              <a:t>r.boxes</a:t>
            </a:r>
            <a:endParaRPr lang="en-US" sz="1000" dirty="0">
              <a:solidFill>
                <a:srgbClr val="CADCFC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for box in boxes: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    </a:t>
            </a:r>
            <a:r>
              <a:rPr lang="en-US" sz="1000" dirty="0" err="1">
                <a:solidFill>
                  <a:srgbClr val="CADCFC"/>
                </a:solidFill>
              </a:rPr>
              <a:t>cls</a:t>
            </a:r>
            <a:r>
              <a:rPr lang="en-US" sz="1000" dirty="0">
                <a:solidFill>
                  <a:srgbClr val="CADCFC"/>
                </a:solidFill>
              </a:rPr>
              <a:t> = int(</a:t>
            </a:r>
            <a:r>
              <a:rPr lang="en-US" sz="1000" dirty="0" err="1">
                <a:solidFill>
                  <a:srgbClr val="CADCFC"/>
                </a:solidFill>
              </a:rPr>
              <a:t>box.cls</a:t>
            </a:r>
            <a:r>
              <a:rPr lang="en-US" sz="1000" dirty="0">
                <a:solidFill>
                  <a:srgbClr val="CADCFC"/>
                </a:solidFill>
              </a:rPr>
              <a:t>[0])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    conf = float(</a:t>
            </a:r>
            <a:r>
              <a:rPr lang="en-US" sz="1000" dirty="0" err="1">
                <a:solidFill>
                  <a:srgbClr val="CADCFC"/>
                </a:solidFill>
              </a:rPr>
              <a:t>box.conf</a:t>
            </a:r>
            <a:r>
              <a:rPr lang="en-US" sz="1000" dirty="0">
                <a:solidFill>
                  <a:srgbClr val="CADCFC"/>
                </a:solidFill>
              </a:rPr>
              <a:t>[0])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    print(</a:t>
            </a:r>
            <a:r>
              <a:rPr lang="en-US" sz="1000" dirty="0" err="1">
                <a:solidFill>
                  <a:srgbClr val="CADCFC"/>
                </a:solidFill>
              </a:rPr>
              <a:t>f"Detected</a:t>
            </a:r>
            <a:r>
              <a:rPr lang="en-US" sz="1000" dirty="0">
                <a:solidFill>
                  <a:srgbClr val="CADCFC"/>
                </a:solidFill>
              </a:rPr>
              <a:t>: {</a:t>
            </a:r>
            <a:r>
              <a:rPr lang="en-US" sz="1000" dirty="0" err="1">
                <a:solidFill>
                  <a:srgbClr val="CADCFC"/>
                </a:solidFill>
              </a:rPr>
              <a:t>model.names</a:t>
            </a:r>
            <a:r>
              <a:rPr lang="en-US" sz="1000" dirty="0">
                <a:solidFill>
                  <a:srgbClr val="CADCFC"/>
                </a:solidFill>
              </a:rPr>
              <a:t>[</a:t>
            </a:r>
            <a:r>
              <a:rPr lang="en-US" sz="1000" dirty="0" err="1">
                <a:solidFill>
                  <a:srgbClr val="CADCFC"/>
                </a:solidFill>
              </a:rPr>
              <a:t>cls</a:t>
            </a:r>
            <a:r>
              <a:rPr lang="en-US" sz="1000" dirty="0">
                <a:solidFill>
                  <a:srgbClr val="CADCFC"/>
                </a:solidFill>
              </a:rPr>
              <a:t>]}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          Confidence: {conf:.2f}")</a:t>
            </a: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009B2477-35ED-2326-8B1F-107E4F250DC0}"/>
              </a:ext>
            </a:extLst>
          </p:cNvPr>
          <p:cNvSpPr/>
          <p:nvPr/>
        </p:nvSpPr>
        <p:spPr>
          <a:xfrm>
            <a:off x="1005840" y="27432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F9FE3E1D-6FF8-C2BF-2484-AE3170ECA4BE}"/>
              </a:ext>
            </a:extLst>
          </p:cNvPr>
          <p:cNvSpPr/>
          <p:nvPr/>
        </p:nvSpPr>
        <p:spPr>
          <a:xfrm>
            <a:off x="2858727" y="1002410"/>
            <a:ext cx="2690230" cy="40667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D30D2CA1-06C5-0B5A-1683-805206A7CC3B}"/>
              </a:ext>
            </a:extLst>
          </p:cNvPr>
          <p:cNvSpPr/>
          <p:nvPr/>
        </p:nvSpPr>
        <p:spPr>
          <a:xfrm>
            <a:off x="3046525" y="1096464"/>
            <a:ext cx="3050950" cy="3030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Anomaly Detection Ensemble:</a:t>
            </a: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FB2EEF42-27B3-F6EE-E9C3-16AFEA6BE111}"/>
              </a:ext>
            </a:extLst>
          </p:cNvPr>
          <p:cNvSpPr/>
          <p:nvPr/>
        </p:nvSpPr>
        <p:spPr>
          <a:xfrm>
            <a:off x="5029200" y="1600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6179D7E5-0D6B-F895-ADEB-D27ACF229D88}"/>
              </a:ext>
            </a:extLst>
          </p:cNvPr>
          <p:cNvSpPr/>
          <p:nvPr/>
        </p:nvSpPr>
        <p:spPr>
          <a:xfrm>
            <a:off x="6120580" y="1572993"/>
            <a:ext cx="25087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4F539724-82C7-ED61-D278-49131AA3B722}"/>
              </a:ext>
            </a:extLst>
          </p:cNvPr>
          <p:cNvSpPr/>
          <p:nvPr/>
        </p:nvSpPr>
        <p:spPr>
          <a:xfrm>
            <a:off x="502920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8B7B752B-2C21-CA81-5A26-C5524ECF11AB}"/>
              </a:ext>
            </a:extLst>
          </p:cNvPr>
          <p:cNvSpPr/>
          <p:nvPr/>
        </p:nvSpPr>
        <p:spPr>
          <a:xfrm>
            <a:off x="5884606" y="2049288"/>
            <a:ext cx="26193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306A3535-A4EC-4AFC-7412-C2E9AF11A019}"/>
              </a:ext>
            </a:extLst>
          </p:cNvPr>
          <p:cNvSpPr/>
          <p:nvPr/>
        </p:nvSpPr>
        <p:spPr>
          <a:xfrm>
            <a:off x="5029200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328C21A1-E352-E23F-B5B4-E5C8AA25A9F4}"/>
              </a:ext>
            </a:extLst>
          </p:cNvPr>
          <p:cNvSpPr/>
          <p:nvPr/>
        </p:nvSpPr>
        <p:spPr>
          <a:xfrm>
            <a:off x="3066679" y="2943224"/>
            <a:ext cx="2341305" cy="579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from </a:t>
            </a:r>
            <a:r>
              <a:rPr lang="en-US" sz="1000" b="1" dirty="0" err="1">
                <a:solidFill>
                  <a:srgbClr val="00D9FF"/>
                </a:solidFill>
              </a:rPr>
              <a:t>sklearn.ensemble</a:t>
            </a:r>
            <a:r>
              <a:rPr lang="en-US" sz="1000" b="1" dirty="0">
                <a:solidFill>
                  <a:srgbClr val="00D9FF"/>
                </a:solidFill>
              </a:rPr>
              <a:t> import </a:t>
            </a:r>
            <a:r>
              <a:rPr lang="en-US" sz="1000" b="1" dirty="0" err="1">
                <a:solidFill>
                  <a:srgbClr val="00D9FF"/>
                </a:solidFill>
              </a:rPr>
              <a:t>IsolationForest</a:t>
            </a:r>
            <a:r>
              <a:rPr lang="en-US" sz="1000" b="1" dirty="0">
                <a:solidFill>
                  <a:srgbClr val="00D9FF"/>
                </a:solidFill>
              </a:rPr>
              <a:t>, </a:t>
            </a:r>
            <a:r>
              <a:rPr lang="en-US" sz="1000" b="1" dirty="0" err="1">
                <a:solidFill>
                  <a:srgbClr val="00D9FF"/>
                </a:solidFill>
              </a:rPr>
              <a:t>RandomForestClassifier</a:t>
            </a:r>
            <a:endParaRPr lang="en-US" sz="1000" b="1" dirty="0">
              <a:solidFill>
                <a:srgbClr val="00D9FF"/>
              </a:solidFill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import </a:t>
            </a:r>
            <a:r>
              <a:rPr lang="en-US" sz="1000" b="1" dirty="0" err="1">
                <a:solidFill>
                  <a:srgbClr val="00D9FF"/>
                </a:solidFill>
              </a:rPr>
              <a:t>numpy</a:t>
            </a:r>
            <a:r>
              <a:rPr lang="en-US" sz="1000" b="1" dirty="0">
                <a:solidFill>
                  <a:srgbClr val="00D9FF"/>
                </a:solidFill>
              </a:rPr>
              <a:t> as np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# Isolation Forest for anomaly detection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iso_forest</a:t>
            </a:r>
            <a:r>
              <a:rPr lang="en-US" sz="1000" b="1" dirty="0">
                <a:solidFill>
                  <a:srgbClr val="00D9FF"/>
                </a:solidFill>
              </a:rPr>
              <a:t> = </a:t>
            </a:r>
            <a:r>
              <a:rPr lang="en-US" sz="1000" b="1" dirty="0" err="1">
                <a:solidFill>
                  <a:srgbClr val="00D9FF"/>
                </a:solidFill>
              </a:rPr>
              <a:t>IsolationForest</a:t>
            </a:r>
            <a:r>
              <a:rPr lang="en-US" sz="1000" b="1" dirty="0">
                <a:solidFill>
                  <a:srgbClr val="00D9FF"/>
                </a:solidFill>
              </a:rPr>
              <a:t>(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contamination=0.1,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</a:t>
            </a:r>
            <a:r>
              <a:rPr lang="en-US" sz="1000" b="1" dirty="0" err="1">
                <a:solidFill>
                  <a:srgbClr val="00D9FF"/>
                </a:solidFill>
              </a:rPr>
              <a:t>random_state</a:t>
            </a:r>
            <a:r>
              <a:rPr lang="en-US" sz="1000" b="1" dirty="0">
                <a:solidFill>
                  <a:srgbClr val="00D9FF"/>
                </a:solidFill>
              </a:rPr>
              <a:t>=42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iso_predictions</a:t>
            </a:r>
            <a:r>
              <a:rPr lang="en-US" sz="1000" b="1" dirty="0">
                <a:solidFill>
                  <a:srgbClr val="00D9FF"/>
                </a:solidFill>
              </a:rPr>
              <a:t> = </a:t>
            </a:r>
            <a:r>
              <a:rPr lang="en-US" sz="1000" b="1" dirty="0" err="1">
                <a:solidFill>
                  <a:srgbClr val="00D9FF"/>
                </a:solidFill>
              </a:rPr>
              <a:t>iso_forest.fit_predict</a:t>
            </a:r>
            <a:r>
              <a:rPr lang="en-US" sz="1000" b="1" dirty="0">
                <a:solidFill>
                  <a:srgbClr val="00D9FF"/>
                </a:solidFill>
              </a:rPr>
              <a:t>(features)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# Random Forest classifier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rf_classifier</a:t>
            </a:r>
            <a:r>
              <a:rPr lang="en-US" sz="1000" b="1" dirty="0">
                <a:solidFill>
                  <a:srgbClr val="00D9FF"/>
                </a:solidFill>
              </a:rPr>
              <a:t> = </a:t>
            </a:r>
            <a:r>
              <a:rPr lang="en-US" sz="1000" b="1" dirty="0" err="1">
                <a:solidFill>
                  <a:srgbClr val="00D9FF"/>
                </a:solidFill>
              </a:rPr>
              <a:t>RandomForestClassifier</a:t>
            </a:r>
            <a:r>
              <a:rPr lang="en-US" sz="1000" b="1" dirty="0">
                <a:solidFill>
                  <a:srgbClr val="00D9FF"/>
                </a:solidFill>
              </a:rPr>
              <a:t>(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</a:t>
            </a:r>
            <a:r>
              <a:rPr lang="en-US" sz="1000" b="1" dirty="0" err="1">
                <a:solidFill>
                  <a:srgbClr val="00D9FF"/>
                </a:solidFill>
              </a:rPr>
              <a:t>n_estimators</a:t>
            </a:r>
            <a:r>
              <a:rPr lang="en-US" sz="1000" b="1" dirty="0">
                <a:solidFill>
                  <a:srgbClr val="00D9FF"/>
                </a:solidFill>
              </a:rPr>
              <a:t>=100,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</a:t>
            </a:r>
            <a:r>
              <a:rPr lang="en-US" sz="1000" b="1" dirty="0" err="1">
                <a:solidFill>
                  <a:srgbClr val="00D9FF"/>
                </a:solidFill>
              </a:rPr>
              <a:t>random_state</a:t>
            </a:r>
            <a:r>
              <a:rPr lang="en-US" sz="1000" b="1" dirty="0">
                <a:solidFill>
                  <a:srgbClr val="00D9FF"/>
                </a:solidFill>
              </a:rPr>
              <a:t>=42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rf_classifier.fit</a:t>
            </a:r>
            <a:r>
              <a:rPr lang="en-US" sz="1000" b="1" dirty="0">
                <a:solidFill>
                  <a:srgbClr val="00D9FF"/>
                </a:solidFill>
              </a:rPr>
              <a:t>(</a:t>
            </a:r>
            <a:r>
              <a:rPr lang="en-US" sz="1000" b="1" dirty="0" err="1">
                <a:solidFill>
                  <a:srgbClr val="00D9FF"/>
                </a:solidFill>
              </a:rPr>
              <a:t>X_train</a:t>
            </a:r>
            <a:r>
              <a:rPr lang="en-US" sz="1000" b="1" dirty="0">
                <a:solidFill>
                  <a:srgbClr val="00D9FF"/>
                </a:solidFill>
              </a:rPr>
              <a:t>, </a:t>
            </a:r>
            <a:r>
              <a:rPr lang="en-US" sz="1000" b="1" dirty="0" err="1">
                <a:solidFill>
                  <a:srgbClr val="00D9FF"/>
                </a:solidFill>
              </a:rPr>
              <a:t>y_train</a:t>
            </a:r>
            <a:r>
              <a:rPr lang="en-US" sz="1000" b="1" dirty="0">
                <a:solidFill>
                  <a:srgbClr val="00D9FF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rf_predictions</a:t>
            </a:r>
            <a:r>
              <a:rPr lang="en-US" sz="1000" b="1" dirty="0">
                <a:solidFill>
                  <a:srgbClr val="00D9FF"/>
                </a:solidFill>
              </a:rPr>
              <a:t> = </a:t>
            </a:r>
            <a:r>
              <a:rPr lang="en-US" sz="1000" b="1" dirty="0" err="1">
                <a:solidFill>
                  <a:srgbClr val="00D9FF"/>
                </a:solidFill>
              </a:rPr>
              <a:t>rf_classifier.predict</a:t>
            </a:r>
            <a:r>
              <a:rPr lang="en-US" sz="1000" b="1" dirty="0">
                <a:solidFill>
                  <a:srgbClr val="00D9FF"/>
                </a:solidFill>
              </a:rPr>
              <a:t>(</a:t>
            </a:r>
            <a:r>
              <a:rPr lang="en-US" sz="1000" b="1" dirty="0" err="1">
                <a:solidFill>
                  <a:srgbClr val="00D9FF"/>
                </a:solidFill>
              </a:rPr>
              <a:t>X_test</a:t>
            </a:r>
            <a:r>
              <a:rPr lang="en-US" sz="1000" b="1" dirty="0">
                <a:solidFill>
                  <a:srgbClr val="00D9FF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# Ensemble voting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final_predictions</a:t>
            </a:r>
            <a:r>
              <a:rPr lang="en-US" sz="1000" b="1" dirty="0">
                <a:solidFill>
                  <a:srgbClr val="00D9FF"/>
                </a:solidFill>
              </a:rPr>
              <a:t> = </a:t>
            </a:r>
            <a:r>
              <a:rPr lang="en-US" sz="1000" b="1" dirty="0" err="1">
                <a:solidFill>
                  <a:srgbClr val="00D9FF"/>
                </a:solidFill>
              </a:rPr>
              <a:t>np.where</a:t>
            </a:r>
            <a:r>
              <a:rPr lang="en-US" sz="1000" b="1" dirty="0">
                <a:solidFill>
                  <a:srgbClr val="00D9FF"/>
                </a:solidFill>
              </a:rPr>
              <a:t>(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(</a:t>
            </a:r>
            <a:r>
              <a:rPr lang="en-US" sz="1000" b="1" dirty="0" err="1">
                <a:solidFill>
                  <a:srgbClr val="00D9FF"/>
                </a:solidFill>
              </a:rPr>
              <a:t>iso_predictions</a:t>
            </a:r>
            <a:r>
              <a:rPr lang="en-US" sz="1000" b="1" dirty="0">
                <a:solidFill>
                  <a:srgbClr val="00D9FF"/>
                </a:solidFill>
              </a:rPr>
              <a:t> == -1) | 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(</a:t>
            </a:r>
            <a:r>
              <a:rPr lang="en-US" sz="1000" b="1" dirty="0" err="1">
                <a:solidFill>
                  <a:srgbClr val="00D9FF"/>
                </a:solidFill>
              </a:rPr>
              <a:t>rf_predictions</a:t>
            </a:r>
            <a:r>
              <a:rPr lang="en-US" sz="1000" b="1" dirty="0">
                <a:solidFill>
                  <a:srgbClr val="00D9FF"/>
                </a:solidFill>
              </a:rPr>
              <a:t> == 1), 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1, 0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)</a:t>
            </a:r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DEB3535D-F703-3E0D-A21D-A387E0E7FA3D}"/>
              </a:ext>
            </a:extLst>
          </p:cNvPr>
          <p:cNvSpPr/>
          <p:nvPr/>
        </p:nvSpPr>
        <p:spPr>
          <a:xfrm>
            <a:off x="502920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39060A2D-33A1-1C2F-A0D1-64F1B9684FE0}"/>
              </a:ext>
            </a:extLst>
          </p:cNvPr>
          <p:cNvSpPr/>
          <p:nvPr/>
        </p:nvSpPr>
        <p:spPr>
          <a:xfrm>
            <a:off x="6276176" y="2697480"/>
            <a:ext cx="1712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1397AF25-7CD3-6988-6D99-90390A1D3548}"/>
              </a:ext>
            </a:extLst>
          </p:cNvPr>
          <p:cNvSpPr/>
          <p:nvPr/>
        </p:nvSpPr>
        <p:spPr>
          <a:xfrm>
            <a:off x="227862" y="4685157"/>
            <a:ext cx="2309598" cy="1828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7" name="Text 2">
            <a:extLst>
              <a:ext uri="{FF2B5EF4-FFF2-40B4-BE49-F238E27FC236}">
                <a16:creationId xmlns:a16="http://schemas.microsoft.com/office/drawing/2014/main" id="{43ED6A3A-5795-759D-1350-F51735179B96}"/>
              </a:ext>
            </a:extLst>
          </p:cNvPr>
          <p:cNvSpPr/>
          <p:nvPr/>
        </p:nvSpPr>
        <p:spPr>
          <a:xfrm>
            <a:off x="6874347" y="1149858"/>
            <a:ext cx="22432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b="1" dirty="0">
              <a:solidFill>
                <a:srgbClr val="00D9FF"/>
              </a:solidFill>
            </a:endParaRPr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4D6BBFCE-8542-CAF8-5A85-F92F1B889C57}"/>
              </a:ext>
            </a:extLst>
          </p:cNvPr>
          <p:cNvSpPr/>
          <p:nvPr/>
        </p:nvSpPr>
        <p:spPr>
          <a:xfrm>
            <a:off x="6942190" y="2667313"/>
            <a:ext cx="2157880" cy="165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>
              <a:solidFill>
                <a:srgbClr val="CADCFC"/>
              </a:solidFill>
            </a:endParaRPr>
          </a:p>
        </p:txBody>
      </p:sp>
      <p:sp>
        <p:nvSpPr>
          <p:cNvPr id="39" name="Shape 1">
            <a:extLst>
              <a:ext uri="{FF2B5EF4-FFF2-40B4-BE49-F238E27FC236}">
                <a16:creationId xmlns:a16="http://schemas.microsoft.com/office/drawing/2014/main" id="{BC2321C6-DE28-8A5A-F85E-938130622B9C}"/>
              </a:ext>
            </a:extLst>
          </p:cNvPr>
          <p:cNvSpPr/>
          <p:nvPr/>
        </p:nvSpPr>
        <p:spPr>
          <a:xfrm>
            <a:off x="5811234" y="1026413"/>
            <a:ext cx="3006460" cy="3944493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40" name="Text 2">
            <a:extLst>
              <a:ext uri="{FF2B5EF4-FFF2-40B4-BE49-F238E27FC236}">
                <a16:creationId xmlns:a16="http://schemas.microsoft.com/office/drawing/2014/main" id="{43622316-2051-5BA9-15A0-A5E4CC254FBC}"/>
              </a:ext>
            </a:extLst>
          </p:cNvPr>
          <p:cNvSpPr/>
          <p:nvPr/>
        </p:nvSpPr>
        <p:spPr>
          <a:xfrm>
            <a:off x="5994113" y="113957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0D9FF"/>
                </a:solidFill>
              </a:rPr>
              <a:t>Azure Cloud Integration:</a:t>
            </a:r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8F64629C-9829-0564-7A40-CF1413D502D1}"/>
              </a:ext>
            </a:extLst>
          </p:cNvPr>
          <p:cNvSpPr/>
          <p:nvPr/>
        </p:nvSpPr>
        <p:spPr>
          <a:xfrm>
            <a:off x="5994113" y="2998659"/>
            <a:ext cx="2739024" cy="314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from </a:t>
            </a:r>
            <a:r>
              <a:rPr lang="en-US" sz="1000" dirty="0" err="1">
                <a:solidFill>
                  <a:srgbClr val="CADCFC"/>
                </a:solidFill>
              </a:rPr>
              <a:t>azure.storage.blob</a:t>
            </a:r>
            <a:r>
              <a:rPr lang="en-US" sz="1000" dirty="0">
                <a:solidFill>
                  <a:srgbClr val="CADCFC"/>
                </a:solidFill>
              </a:rPr>
              <a:t> import BlobServiceClient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import </a:t>
            </a:r>
            <a:r>
              <a:rPr lang="en-US" sz="1000" dirty="0" err="1">
                <a:solidFill>
                  <a:srgbClr val="CADCFC"/>
                </a:solidFill>
              </a:rPr>
              <a:t>azure.functions</a:t>
            </a:r>
            <a:r>
              <a:rPr lang="en-US" sz="1000" dirty="0">
                <a:solidFill>
                  <a:srgbClr val="CADCFC"/>
                </a:solidFill>
              </a:rPr>
              <a:t> as </a:t>
            </a:r>
            <a:r>
              <a:rPr lang="en-US" sz="1000" dirty="0" err="1">
                <a:solidFill>
                  <a:srgbClr val="CADCFC"/>
                </a:solidFill>
              </a:rPr>
              <a:t>func</a:t>
            </a:r>
            <a:endParaRPr lang="en-US" sz="1000" dirty="0">
              <a:solidFill>
                <a:srgbClr val="CADCFC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# Upload to Azure Blob Storage</a:t>
            </a:r>
          </a:p>
          <a:p>
            <a:pPr marL="0" indent="0">
              <a:buNone/>
            </a:pPr>
            <a:r>
              <a:rPr lang="en-US" sz="1000" dirty="0" err="1">
                <a:solidFill>
                  <a:srgbClr val="CADCFC"/>
                </a:solidFill>
              </a:rPr>
              <a:t>blob_service</a:t>
            </a:r>
            <a:r>
              <a:rPr lang="en-US" sz="1000" dirty="0">
                <a:solidFill>
                  <a:srgbClr val="CADCFC"/>
                </a:solidFill>
              </a:rPr>
              <a:t> = </a:t>
            </a:r>
            <a:r>
              <a:rPr lang="en-US" sz="1000" dirty="0" err="1">
                <a:solidFill>
                  <a:srgbClr val="CADCFC"/>
                </a:solidFill>
              </a:rPr>
              <a:t>BlobServiceClient.from_connection_string</a:t>
            </a:r>
            <a:r>
              <a:rPr lang="en-US" sz="1000" dirty="0">
                <a:solidFill>
                  <a:srgbClr val="CADCFC"/>
                </a:solidFill>
              </a:rPr>
              <a:t>(</a:t>
            </a:r>
            <a:r>
              <a:rPr lang="en-US" sz="1000" dirty="0" err="1">
                <a:solidFill>
                  <a:srgbClr val="CADCFC"/>
                </a:solidFill>
              </a:rPr>
              <a:t>conn_str</a:t>
            </a:r>
            <a:r>
              <a:rPr lang="en-US" sz="1000" dirty="0">
                <a:solidFill>
                  <a:srgbClr val="CADCFC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container = </a:t>
            </a:r>
            <a:r>
              <a:rPr lang="en-US" sz="1000" dirty="0" err="1">
                <a:solidFill>
                  <a:srgbClr val="CADCFC"/>
                </a:solidFill>
              </a:rPr>
              <a:t>blob_service.get_container_client</a:t>
            </a:r>
            <a:r>
              <a:rPr lang="en-US" sz="1000" dirty="0">
                <a:solidFill>
                  <a:srgbClr val="CADCFC"/>
                </a:solidFill>
              </a:rPr>
              <a:t>("surveillance-videos")</a:t>
            </a:r>
          </a:p>
          <a:p>
            <a:pPr marL="0" indent="0">
              <a:buNone/>
            </a:pPr>
            <a:r>
              <a:rPr lang="en-US" sz="1000" dirty="0" err="1">
                <a:solidFill>
                  <a:srgbClr val="CADCFC"/>
                </a:solidFill>
              </a:rPr>
              <a:t>blob_client</a:t>
            </a:r>
            <a:r>
              <a:rPr lang="en-US" sz="1000" dirty="0">
                <a:solidFill>
                  <a:srgbClr val="CADCFC"/>
                </a:solidFill>
              </a:rPr>
              <a:t> = </a:t>
            </a:r>
            <a:r>
              <a:rPr lang="en-US" sz="1000" dirty="0" err="1">
                <a:solidFill>
                  <a:srgbClr val="CADCFC"/>
                </a:solidFill>
              </a:rPr>
              <a:t>container.get_blob_client</a:t>
            </a:r>
            <a:r>
              <a:rPr lang="en-US" sz="1000" dirty="0">
                <a:solidFill>
                  <a:srgbClr val="CADCFC"/>
                </a:solidFill>
              </a:rPr>
              <a:t>("detected_threat.jpg")</a:t>
            </a:r>
          </a:p>
          <a:p>
            <a:pPr marL="0" indent="0">
              <a:buNone/>
            </a:pPr>
            <a:r>
              <a:rPr lang="en-US" sz="1000" dirty="0" err="1">
                <a:solidFill>
                  <a:srgbClr val="CADCFC"/>
                </a:solidFill>
              </a:rPr>
              <a:t>blob_client.upload_blob</a:t>
            </a:r>
            <a:r>
              <a:rPr lang="en-US" sz="1000" dirty="0">
                <a:solidFill>
                  <a:srgbClr val="CADCFC"/>
                </a:solidFill>
              </a:rPr>
              <a:t>(</a:t>
            </a:r>
            <a:r>
              <a:rPr lang="en-US" sz="1000" dirty="0" err="1">
                <a:solidFill>
                  <a:srgbClr val="CADCFC"/>
                </a:solidFill>
              </a:rPr>
              <a:t>image_data</a:t>
            </a:r>
            <a:r>
              <a:rPr lang="en-US" sz="1000" dirty="0">
                <a:solidFill>
                  <a:srgbClr val="CADCFC"/>
                </a:solidFill>
              </a:rPr>
              <a:t>, overwrite=True)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# Azure Function for alert processing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def main(req: </a:t>
            </a:r>
            <a:r>
              <a:rPr lang="en-US" sz="1000" dirty="0" err="1">
                <a:solidFill>
                  <a:srgbClr val="CADCFC"/>
                </a:solidFill>
              </a:rPr>
              <a:t>func.HttpRequest</a:t>
            </a:r>
            <a:r>
              <a:rPr lang="en-US" sz="1000" dirty="0">
                <a:solidFill>
                  <a:srgbClr val="CADCFC"/>
                </a:solidFill>
              </a:rPr>
              <a:t>) -&gt; </a:t>
            </a:r>
            <a:r>
              <a:rPr lang="en-US" sz="1000" dirty="0" err="1">
                <a:solidFill>
                  <a:srgbClr val="CADCFC"/>
                </a:solidFill>
              </a:rPr>
              <a:t>func.HttpResponse</a:t>
            </a:r>
            <a:r>
              <a:rPr lang="en-US" sz="1000" dirty="0">
                <a:solidFill>
                  <a:srgbClr val="CADCFC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</a:t>
            </a:r>
            <a:r>
              <a:rPr lang="en-US" sz="1000" dirty="0" err="1">
                <a:solidFill>
                  <a:srgbClr val="CADCFC"/>
                </a:solidFill>
              </a:rPr>
              <a:t>detection_data</a:t>
            </a:r>
            <a:r>
              <a:rPr lang="en-US" sz="1000" dirty="0">
                <a:solidFill>
                  <a:srgbClr val="CADCFC"/>
                </a:solidFill>
              </a:rPr>
              <a:t> = </a:t>
            </a:r>
            <a:r>
              <a:rPr lang="en-US" sz="1000" dirty="0" err="1">
                <a:solidFill>
                  <a:srgbClr val="CADCFC"/>
                </a:solidFill>
              </a:rPr>
              <a:t>req.get_json</a:t>
            </a:r>
            <a:r>
              <a:rPr lang="en-US" sz="1000" dirty="0">
                <a:solidFill>
                  <a:srgbClr val="CADCFC"/>
                </a:solidFill>
              </a:rPr>
              <a:t>()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if </a:t>
            </a:r>
            <a:r>
              <a:rPr lang="en-US" sz="1000" dirty="0" err="1">
                <a:solidFill>
                  <a:srgbClr val="CADCFC"/>
                </a:solidFill>
              </a:rPr>
              <a:t>detection_data</a:t>
            </a:r>
            <a:r>
              <a:rPr lang="en-US" sz="1000" dirty="0">
                <a:solidFill>
                  <a:srgbClr val="CADCFC"/>
                </a:solidFill>
              </a:rPr>
              <a:t>['confidence'] &gt; 0.8: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    </a:t>
            </a:r>
            <a:r>
              <a:rPr lang="en-US" sz="1000" dirty="0" err="1">
                <a:solidFill>
                  <a:srgbClr val="CADCFC"/>
                </a:solidFill>
              </a:rPr>
              <a:t>send_alert</a:t>
            </a:r>
            <a:r>
              <a:rPr lang="en-US" sz="1000" dirty="0">
                <a:solidFill>
                  <a:srgbClr val="CADCFC"/>
                </a:solidFill>
              </a:rPr>
              <a:t>(</a:t>
            </a:r>
            <a:r>
              <a:rPr lang="en-US" sz="1000" dirty="0" err="1">
                <a:solidFill>
                  <a:srgbClr val="CADCFC"/>
                </a:solidFill>
              </a:rPr>
              <a:t>detection_data</a:t>
            </a:r>
            <a:r>
              <a:rPr lang="en-US" sz="1000" dirty="0">
                <a:solidFill>
                  <a:srgbClr val="CADCFC"/>
                </a:solidFill>
              </a:rPr>
              <a:t>)  # Trigger email/SMS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return </a:t>
            </a:r>
            <a:r>
              <a:rPr lang="en-US" sz="1000" dirty="0" err="1">
                <a:solidFill>
                  <a:srgbClr val="CADCFC"/>
                </a:solidFill>
              </a:rPr>
              <a:t>func.HttpResponse</a:t>
            </a:r>
            <a:r>
              <a:rPr lang="en-US" sz="1000" dirty="0">
                <a:solidFill>
                  <a:srgbClr val="CADCFC"/>
                </a:solidFill>
              </a:rPr>
              <a:t>("Alert processed", </a:t>
            </a:r>
            <a:r>
              <a:rPr lang="en-US" sz="1000" dirty="0" err="1">
                <a:solidFill>
                  <a:srgbClr val="CADCFC"/>
                </a:solidFill>
              </a:rPr>
              <a:t>status_code</a:t>
            </a:r>
            <a:r>
              <a:rPr lang="en-US" sz="1000" dirty="0">
                <a:solidFill>
                  <a:srgbClr val="CADCFC"/>
                </a:solidFill>
              </a:rPr>
              <a:t>=200)</a:t>
            </a:r>
          </a:p>
        </p:txBody>
      </p:sp>
    </p:spTree>
    <p:extLst>
      <p:ext uri="{BB962C8B-B14F-4D97-AF65-F5344CB8AC3E}">
        <p14:creationId xmlns:p14="http://schemas.microsoft.com/office/powerpoint/2010/main" val="17570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Datasets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UCF-Crime: crcv.ucf.edu/projects/real-world/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18488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1848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xView: xviewdataset.org/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65376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86537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DOTA: captain-whu.github.io/DOTA/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Technologies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256032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56032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YOLOv8: docs.ultralytics.com/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807208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80720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Microsoft Azure: azure.microsoft.com/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054096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05409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TensorFlow: tensorflow.org/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Research Papers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46320" y="137160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1371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Real-world Anomaly Detection 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Surveillance Videos (CVPR)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192024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•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YOLOv8: Advanced Object Detection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46888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•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2468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Enhancing Border Security Through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Computer Vision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</a:rPr>
              <a:t>All references and resources available in project documentation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21A7B8-E320-89B3-AD3B-B6A8FEEF7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FF2B5EF4-FFF2-40B4-BE49-F238E27FC236}">
                <a16:creationId xmlns:a16="http://schemas.microsoft.com/office/drawing/2014/main" id="{925D5F3A-D75F-7B0E-F269-8440D34AC6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9580" y="402336"/>
            <a:ext cx="420624" cy="42062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E1F4091-2E84-B96D-F796-DDD70FB531C7}"/>
              </a:ext>
            </a:extLst>
          </p:cNvPr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6B35"/>
                </a:solidFill>
              </a:rPr>
              <a:t>Results &amp; Outcomes (Week 1-7)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917ECF2-B761-409F-7E8B-C065CDCED37C}"/>
              </a:ext>
            </a:extLst>
          </p:cNvPr>
          <p:cNvSpPr/>
          <p:nvPr/>
        </p:nvSpPr>
        <p:spPr>
          <a:xfrm>
            <a:off x="457200" y="1225296"/>
            <a:ext cx="8229600" cy="1502664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ECFE6A3-9999-EC41-F8CC-BDC606761E81}"/>
              </a:ext>
            </a:extLst>
          </p:cNvPr>
          <p:cNvSpPr/>
          <p:nvPr/>
        </p:nvSpPr>
        <p:spPr>
          <a:xfrm>
            <a:off x="457200" y="1225296"/>
            <a:ext cx="91440" cy="150266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AC95D2A-6031-3FAA-8258-B06C19657A72}"/>
              </a:ext>
            </a:extLst>
          </p:cNvPr>
          <p:cNvSpPr/>
          <p:nvPr/>
        </p:nvSpPr>
        <p:spPr>
          <a:xfrm>
            <a:off x="685800" y="131673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Training Achievements: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F5EE2B0-708F-0AA8-EFBC-C4CCE2E32C8E}"/>
              </a:ext>
            </a:extLst>
          </p:cNvPr>
          <p:cNvSpPr/>
          <p:nvPr/>
        </p:nvSpPr>
        <p:spPr>
          <a:xfrm>
            <a:off x="822960" y="1508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F2E7ECE-FCE6-3E9B-DC2D-90FE9864D0AC}"/>
              </a:ext>
            </a:extLst>
          </p:cNvPr>
          <p:cNvSpPr/>
          <p:nvPr/>
        </p:nvSpPr>
        <p:spPr>
          <a:xfrm>
            <a:off x="685800" y="2040636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Completed 7 weeks of Microsoft Elevate training modules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Mastered Data Analytics, Machine Learning, Deep Learning concepts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Built CNN from scratch - achieved 78% accuracy on CIFAR-10 dataset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Implemented transfer learning with VGG16 pre-trained model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Successfully tested YOLOv8 on surveillance footage (30+ FPS performance)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Prepared 850 annotated frames for custom model training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0A72563-A449-687C-6E58-FADF1A247CB1}"/>
              </a:ext>
            </a:extLst>
          </p:cNvPr>
          <p:cNvSpPr/>
          <p:nvPr/>
        </p:nvSpPr>
        <p:spPr>
          <a:xfrm>
            <a:off x="822960" y="1719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21957A2-7D91-5C5B-F8CE-7E31BFC60CE2}"/>
              </a:ext>
            </a:extLst>
          </p:cNvPr>
          <p:cNvSpPr/>
          <p:nvPr/>
        </p:nvSpPr>
        <p:spPr>
          <a:xfrm>
            <a:off x="1005840" y="17190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E269A60-9509-6C18-CC8C-D845174455F0}"/>
              </a:ext>
            </a:extLst>
          </p:cNvPr>
          <p:cNvSpPr/>
          <p:nvPr/>
        </p:nvSpPr>
        <p:spPr>
          <a:xfrm>
            <a:off x="822960" y="1929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7FFC225-46CA-20D8-3072-C093B8FD243F}"/>
              </a:ext>
            </a:extLst>
          </p:cNvPr>
          <p:cNvSpPr/>
          <p:nvPr/>
        </p:nvSpPr>
        <p:spPr>
          <a:xfrm>
            <a:off x="1005840" y="1929384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087AC85A-B5EE-C983-7187-A1451B7AD287}"/>
              </a:ext>
            </a:extLst>
          </p:cNvPr>
          <p:cNvSpPr/>
          <p:nvPr/>
        </p:nvSpPr>
        <p:spPr>
          <a:xfrm>
            <a:off x="822960" y="2651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172F4F6C-0DB6-1863-64ED-2FFC8956FA43}"/>
              </a:ext>
            </a:extLst>
          </p:cNvPr>
          <p:cNvSpPr/>
          <p:nvPr/>
        </p:nvSpPr>
        <p:spPr>
          <a:xfrm>
            <a:off x="822960" y="2862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797D83E7-14F3-8D0F-11EE-A6E5A7002F66}"/>
              </a:ext>
            </a:extLst>
          </p:cNvPr>
          <p:cNvSpPr/>
          <p:nvPr/>
        </p:nvSpPr>
        <p:spPr>
          <a:xfrm>
            <a:off x="822960" y="3794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390F613B-0BCF-D991-1462-E71CA010029A}"/>
              </a:ext>
            </a:extLst>
          </p:cNvPr>
          <p:cNvSpPr/>
          <p:nvPr/>
        </p:nvSpPr>
        <p:spPr>
          <a:xfrm>
            <a:off x="822960" y="4215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1" name="Shape 1">
            <a:extLst>
              <a:ext uri="{FF2B5EF4-FFF2-40B4-BE49-F238E27FC236}">
                <a16:creationId xmlns:a16="http://schemas.microsoft.com/office/drawing/2014/main" id="{E5F2152E-5D04-6720-9275-9E4092C09F0B}"/>
              </a:ext>
            </a:extLst>
          </p:cNvPr>
          <p:cNvSpPr/>
          <p:nvPr/>
        </p:nvSpPr>
        <p:spPr>
          <a:xfrm>
            <a:off x="457200" y="3235452"/>
            <a:ext cx="8229600" cy="1167384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E1C2ACA6-22AA-1E07-A1DF-E088BD8CBA28}"/>
              </a:ext>
            </a:extLst>
          </p:cNvPr>
          <p:cNvSpPr/>
          <p:nvPr/>
        </p:nvSpPr>
        <p:spPr>
          <a:xfrm>
            <a:off x="457200" y="3235452"/>
            <a:ext cx="91440" cy="116738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CFD9D820-F39A-16A6-4C58-62519D17E4D6}"/>
              </a:ext>
            </a:extLst>
          </p:cNvPr>
          <p:cNvSpPr/>
          <p:nvPr/>
        </p:nvSpPr>
        <p:spPr>
          <a:xfrm>
            <a:off x="685800" y="33268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Pre-trained YOLOv8 Performance:</a:t>
            </a:r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234B7DD2-E956-2A0E-C9F8-54A9D359E795}"/>
              </a:ext>
            </a:extLst>
          </p:cNvPr>
          <p:cNvSpPr/>
          <p:nvPr/>
        </p:nvSpPr>
        <p:spPr>
          <a:xfrm>
            <a:off x="685800" y="38907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CADCFC"/>
                </a:solidFill>
              </a:rPr>
              <a:t>YOLOv8n (nano): ~30 FPS, 640x640 input, 3.2M parameters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CADCFC"/>
                </a:solidFill>
              </a:rPr>
              <a:t>Detection Accuracy: Person (92%), Vehicle (88%), Backpack (85%)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CADCFC"/>
                </a:solidFill>
              </a:rPr>
              <a:t>Average Confidence Score: 0.76 for valid detections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CADCFC"/>
                </a:solidFill>
              </a:rPr>
              <a:t>False Positive Rate: ~15% on test surveillance footage</a:t>
            </a:r>
          </a:p>
        </p:txBody>
      </p:sp>
    </p:spTree>
    <p:extLst>
      <p:ext uri="{BB962C8B-B14F-4D97-AF65-F5344CB8AC3E}">
        <p14:creationId xmlns:p14="http://schemas.microsoft.com/office/powerpoint/2010/main" val="1160278623"/>
      </p:ext>
    </p:extLst>
  </p:cSld>
  <p:clrMapOvr>
    <a:masterClrMapping/>
  </p:clrMapOvr>
  <p:transition spd="slow">
    <p:randomBar dir="vert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EA1EEC-B71C-7164-F3A8-35A0E4447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FF2B5EF4-FFF2-40B4-BE49-F238E27FC236}">
                <a16:creationId xmlns:a16="http://schemas.microsoft.com/office/drawing/2014/main" id="{72C6DB66-DFED-E002-481D-F307DFB172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9580" y="402336"/>
            <a:ext cx="420624" cy="42062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3ED2969-163A-B746-F060-CBD3C586688C}"/>
              </a:ext>
            </a:extLst>
          </p:cNvPr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chemeClr val="accent6"/>
                </a:solidFill>
              </a:rPr>
              <a:t>Expected Final Outcomes (Week 12):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2615CD4C-1894-296C-1CFB-B8A0248DAEE3}"/>
              </a:ext>
            </a:extLst>
          </p:cNvPr>
          <p:cNvSpPr/>
          <p:nvPr/>
        </p:nvSpPr>
        <p:spPr>
          <a:xfrm>
            <a:off x="457200" y="1225296"/>
            <a:ext cx="8229600" cy="1502664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F060D0CC-0398-35A7-658E-56F959384E1E}"/>
              </a:ext>
            </a:extLst>
          </p:cNvPr>
          <p:cNvSpPr/>
          <p:nvPr/>
        </p:nvSpPr>
        <p:spPr>
          <a:xfrm>
            <a:off x="457200" y="1225296"/>
            <a:ext cx="91440" cy="1502664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349EC98-6B48-CC0E-3CEF-FFFEE5FC4C43}"/>
              </a:ext>
            </a:extLst>
          </p:cNvPr>
          <p:cNvSpPr/>
          <p:nvPr/>
        </p:nvSpPr>
        <p:spPr>
          <a:xfrm>
            <a:off x="685800" y="131673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EFB25BB-D52C-2F95-3A8A-E07CF25DAE1C}"/>
              </a:ext>
            </a:extLst>
          </p:cNvPr>
          <p:cNvSpPr/>
          <p:nvPr/>
        </p:nvSpPr>
        <p:spPr>
          <a:xfrm>
            <a:off x="822960" y="1508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AE4A8A2-D043-7BAF-28CE-88A644C41409}"/>
              </a:ext>
            </a:extLst>
          </p:cNvPr>
          <p:cNvSpPr/>
          <p:nvPr/>
        </p:nvSpPr>
        <p:spPr>
          <a:xfrm>
            <a:off x="685800" y="186385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CADCFC"/>
                </a:solidFill>
              </a:rPr>
              <a:t>Fully trained YOLOv8 model on custom surveillance dataset (&gt;90% accuracy)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CADCFC"/>
                </a:solidFill>
              </a:rPr>
              <a:t>Deployed anomaly detection system with &lt;20% false positive rate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CADCFC"/>
                </a:solidFill>
              </a:rPr>
              <a:t>Functional Azure cloud infrastructure with real-time processing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CADCFC"/>
                </a:solidFill>
              </a:rPr>
              <a:t>Power BI dashboard with live detection metrics and alert visualization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CADCFC"/>
                </a:solidFill>
              </a:rPr>
              <a:t>Complete project documentation and GitHub repository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3BD7432-F84E-65F0-FE09-ED5DFECFAB3C}"/>
              </a:ext>
            </a:extLst>
          </p:cNvPr>
          <p:cNvSpPr/>
          <p:nvPr/>
        </p:nvSpPr>
        <p:spPr>
          <a:xfrm>
            <a:off x="822960" y="1719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63BE996-B77F-6994-03A5-637BBC09B7ED}"/>
              </a:ext>
            </a:extLst>
          </p:cNvPr>
          <p:cNvSpPr/>
          <p:nvPr/>
        </p:nvSpPr>
        <p:spPr>
          <a:xfrm>
            <a:off x="1005840" y="17190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146C9F0-9100-0255-9556-3921953E00E2}"/>
              </a:ext>
            </a:extLst>
          </p:cNvPr>
          <p:cNvSpPr/>
          <p:nvPr/>
        </p:nvSpPr>
        <p:spPr>
          <a:xfrm>
            <a:off x="822960" y="1929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18B4571-B5C8-6B45-55E7-E800C5F4233A}"/>
              </a:ext>
            </a:extLst>
          </p:cNvPr>
          <p:cNvSpPr/>
          <p:nvPr/>
        </p:nvSpPr>
        <p:spPr>
          <a:xfrm>
            <a:off x="1005840" y="1929384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526ACA7F-DF5C-9FA1-0F42-4CD52B23D3B2}"/>
              </a:ext>
            </a:extLst>
          </p:cNvPr>
          <p:cNvSpPr/>
          <p:nvPr/>
        </p:nvSpPr>
        <p:spPr>
          <a:xfrm>
            <a:off x="822960" y="2651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55359B0-32AD-A851-310B-0B9DD388F664}"/>
              </a:ext>
            </a:extLst>
          </p:cNvPr>
          <p:cNvSpPr/>
          <p:nvPr/>
        </p:nvSpPr>
        <p:spPr>
          <a:xfrm>
            <a:off x="822960" y="2862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6A916E38-1E45-772F-5820-16C929BE6DC3}"/>
              </a:ext>
            </a:extLst>
          </p:cNvPr>
          <p:cNvSpPr/>
          <p:nvPr/>
        </p:nvSpPr>
        <p:spPr>
          <a:xfrm>
            <a:off x="822960" y="3794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098793A7-A5B7-C646-AD71-916A983FE5EE}"/>
              </a:ext>
            </a:extLst>
          </p:cNvPr>
          <p:cNvSpPr/>
          <p:nvPr/>
        </p:nvSpPr>
        <p:spPr>
          <a:xfrm>
            <a:off x="822960" y="4215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828723231"/>
      </p:ext>
    </p:extLst>
  </p:cSld>
  <p:clrMapOvr>
    <a:masterClrMapping/>
  </p:clrMapOvr>
  <p:transition spd="slow">
    <p:randomBar dir="vert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5715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2336145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00D9FF"/>
                </a:solidFill>
              </a:rPr>
              <a:t>Questions?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182761" y="2780144"/>
            <a:ext cx="4492359" cy="1390036"/>
          </a:xfrm>
          <a:prstGeom prst="rect">
            <a:avLst/>
          </a:prstGeom>
          <a:solidFill>
            <a:srgbClr val="3D4E76"/>
          </a:solidFill>
          <a:ln/>
        </p:spPr>
      </p:sp>
      <p:sp>
        <p:nvSpPr>
          <p:cNvPr id="6" name="Text 3"/>
          <p:cNvSpPr/>
          <p:nvPr/>
        </p:nvSpPr>
        <p:spPr>
          <a:xfrm>
            <a:off x="2468880" y="2871069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Contact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468880" y="3154238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Jainil Gupta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468880" y="3383722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Email: Jainilgupta93@outlook.com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468880" y="3636805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CADCFC"/>
                </a:solidFill>
              </a:rPr>
              <a:t>GitHub: https://github.com/jainilgupta02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468880" y="3886421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LinkedIn: https://linkedin.com/in/jainilgupta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B8D8"/>
                </a:solidFill>
              </a:rPr>
              <a:t>SAL Institute of Technology and Engineering Research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48006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B8D8"/>
                </a:solidFill>
              </a:rPr>
              <a:t>Microsoft Elevate Internship 2026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rder_Defence_Presentation" id="{9E4F15CF-6B86-494D-9959-3096D1BA2AB0}" vid="{5DD214B2-4F19-4E61-B85D-15F74B7965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</TotalTime>
  <Words>4752</Words>
  <Application>Microsoft Office PowerPoint</Application>
  <PresentationFormat>On-screen Show (16:9)</PresentationFormat>
  <Paragraphs>760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Border Defence and Surveillance - AI-Powered System</dc:title>
  <dc:subject>PptxGenJS Presentation</dc:subject>
  <dc:creator>Jay Gupta</dc:creator>
  <cp:lastModifiedBy>Jainil Gupta</cp:lastModifiedBy>
  <cp:revision>14</cp:revision>
  <dcterms:created xsi:type="dcterms:W3CDTF">2026-02-06T17:39:37Z</dcterms:created>
  <dcterms:modified xsi:type="dcterms:W3CDTF">2026-03-07T06:54:39Z</dcterms:modified>
</cp:coreProperties>
</file>